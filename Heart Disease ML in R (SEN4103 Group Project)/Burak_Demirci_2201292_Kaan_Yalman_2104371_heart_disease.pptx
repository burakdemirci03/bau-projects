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6" r:id="rId1"/>
  </p:sldMasterIdLst>
  <p:notesMasterIdLst>
    <p:notesMasterId r:id="rId15"/>
  </p:notesMasterIdLst>
  <p:sldIdLst>
    <p:sldId id="256" r:id="rId2"/>
    <p:sldId id="257" r:id="rId3"/>
    <p:sldId id="258" r:id="rId4"/>
    <p:sldId id="260" r:id="rId5"/>
    <p:sldId id="268" r:id="rId6"/>
    <p:sldId id="269" r:id="rId7"/>
    <p:sldId id="270" r:id="rId8"/>
    <p:sldId id="271" r:id="rId9"/>
    <p:sldId id="272" r:id="rId10"/>
    <p:sldId id="261" r:id="rId11"/>
    <p:sldId id="263" r:id="rId12"/>
    <p:sldId id="267" r:id="rId13"/>
    <p:sldId id="25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EBAD41-4FAD-DAE3-5C3B-43D08FEC9BAC}" v="3" dt="2026-06-01T10:49:46.9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D994C2-FD17-904A-9B85-9C01658A9237}" type="datetimeFigureOut">
              <a:rPr lang="en-US" smtClean="0"/>
              <a:t>6/3/26</a:t>
            </a:fld>
            <a:endParaRPr lang="en-US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41C3C-4010-7D40-893E-21FAECEC9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614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41C3C-4010-7D40-893E-21FAECEC94C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6738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41C3C-4010-7D40-893E-21FAECEC94C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016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B4BFF-E3E7-864B-9A80-7FE49BF6F4B3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801CF-6919-F74A-8C6E-8C1110F12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371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B4BFF-E3E7-864B-9A80-7FE49BF6F4B3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801CF-6919-F74A-8C6E-8C1110F12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813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B4BFF-E3E7-864B-9A80-7FE49BF6F4B3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801CF-6919-F74A-8C6E-8C1110F12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164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B4BFF-E3E7-864B-9A80-7FE49BF6F4B3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801CF-6919-F74A-8C6E-8C1110F12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364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B4BFF-E3E7-864B-9A80-7FE49BF6F4B3}" type="datetimeFigureOut">
              <a:rPr lang="en-US" smtClean="0"/>
              <a:t>6/3/26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801CF-6919-F74A-8C6E-8C1110F12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790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B4BFF-E3E7-864B-9A80-7FE49BF6F4B3}" type="datetimeFigureOut">
              <a:rPr lang="en-US" smtClean="0"/>
              <a:t>6/3/26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801CF-6919-F74A-8C6E-8C1110F12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013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B4BFF-E3E7-864B-9A80-7FE49BF6F4B3}" type="datetimeFigureOut">
              <a:rPr lang="en-US" smtClean="0"/>
              <a:t>6/3/26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801CF-6919-F74A-8C6E-8C1110F12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400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B4BFF-E3E7-864B-9A80-7FE49BF6F4B3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801CF-6919-F74A-8C6E-8C1110F12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127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B4BFF-E3E7-864B-9A80-7FE49BF6F4B3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801CF-6919-F74A-8C6E-8C1110F12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460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Yazılı Panoramik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B4BFF-E3E7-864B-9A80-7FE49BF6F4B3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801CF-6919-F74A-8C6E-8C1110F12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373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şlık ve Resim Yazıs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B4BFF-E3E7-864B-9A80-7FE49BF6F4B3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801CF-6919-F74A-8C6E-8C1110F12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7700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im Yazılı Alın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B4BFF-E3E7-864B-9A80-7FE49BF6F4B3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801CF-6919-F74A-8C6E-8C1110F124B8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41278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B4BFF-E3E7-864B-9A80-7FE49BF6F4B3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801CF-6919-F74A-8C6E-8C1110F12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3080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ütu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B4BFF-E3E7-864B-9A80-7FE49BF6F4B3}" type="datetimeFigureOut">
              <a:rPr lang="en-US" smtClean="0"/>
              <a:t>6/3/26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801CF-6919-F74A-8C6E-8C1110F12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0948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Resim Sütu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B4BFF-E3E7-864B-9A80-7FE49BF6F4B3}" type="datetimeFigureOut">
              <a:rPr lang="en-US" smtClean="0"/>
              <a:t>6/3/26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801CF-6919-F74A-8C6E-8C1110F12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8521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B4BFF-E3E7-864B-9A80-7FE49BF6F4B3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801CF-6919-F74A-8C6E-8C1110F12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0688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B4BFF-E3E7-864B-9A80-7FE49BF6F4B3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801CF-6919-F74A-8C6E-8C1110F12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2827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5B4BFF-E3E7-864B-9A80-7FE49BF6F4B3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801CF-6919-F74A-8C6E-8C1110F12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585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9B5B4BFF-E3E7-864B-9A80-7FE49BF6F4B3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095801CF-6919-F74A-8C6E-8C1110F12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977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  <p:sldLayoutId id="2147483744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johnsmith88/heart-disease-dataset" TargetMode="Externa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B16663F-AE19-7EC7-C992-646960968D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1300786"/>
            <a:ext cx="8689976" cy="2261122"/>
          </a:xfrm>
        </p:spPr>
        <p:txBody>
          <a:bodyPr/>
          <a:lstStyle/>
          <a:p>
            <a:r>
              <a:rPr lang="en-US" noProof="0" dirty="0"/>
              <a:t>HEART DISEASE</a:t>
            </a:r>
            <a:br>
              <a:rPr lang="en-US" noProof="0" dirty="0"/>
            </a:br>
            <a:r>
              <a:rPr lang="en-US" noProof="0" dirty="0"/>
              <a:t>R Project Presentation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555AAFC4-DB46-8236-7775-37ACE0DEFF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0919" y="4694275"/>
            <a:ext cx="8689976" cy="1371599"/>
          </a:xfrm>
        </p:spPr>
        <p:txBody>
          <a:bodyPr/>
          <a:lstStyle/>
          <a:p>
            <a:pPr algn="l">
              <a:lnSpc>
                <a:spcPct val="100000"/>
              </a:lnSpc>
            </a:pPr>
            <a:r>
              <a:rPr lang="en-US" noProof="0" dirty="0"/>
              <a:t>BURAK DEMIRCI – 2201292</a:t>
            </a:r>
          </a:p>
          <a:p>
            <a:pPr algn="l">
              <a:lnSpc>
                <a:spcPct val="100000"/>
              </a:lnSpc>
            </a:pPr>
            <a:r>
              <a:rPr lang="en-US" noProof="0" dirty="0"/>
              <a:t>Kaan </a:t>
            </a:r>
            <a:r>
              <a:rPr lang="en-US" noProof="0" dirty="0" err="1"/>
              <a:t>Yalman</a:t>
            </a:r>
            <a:r>
              <a:rPr lang="en-US" noProof="0" dirty="0"/>
              <a:t> – 2104371</a:t>
            </a:r>
          </a:p>
        </p:txBody>
      </p:sp>
    </p:spTree>
    <p:extLst>
      <p:ext uri="{BB962C8B-B14F-4D97-AF65-F5344CB8AC3E}">
        <p14:creationId xmlns:p14="http://schemas.microsoft.com/office/powerpoint/2010/main" val="2128757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DA4E8C5-A930-EFF3-64A1-F52C4F44D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Dataset Selection &amp; Objective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9CC9D10-8DDD-169A-4AD5-3695365327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>
                <a:ea typeface="+mn-lt"/>
                <a:cs typeface="+mn-lt"/>
              </a:rPr>
              <a:t>This analysis uses data </a:t>
            </a:r>
            <a:r>
              <a:rPr lang="en-US" noProof="0">
                <a:ea typeface="+mn-lt"/>
                <a:cs typeface="+mn-lt"/>
              </a:rPr>
              <a:t>from Kaggle, </a:t>
            </a:r>
            <a:r>
              <a:rPr lang="en-US">
                <a:ea typeface="+mn-lt"/>
                <a:cs typeface="+mn-lt"/>
              </a:rPr>
              <a:t>and the goal </a:t>
            </a:r>
            <a:r>
              <a:rPr lang="en-US" noProof="0">
                <a:ea typeface="+mn-lt"/>
                <a:cs typeface="+mn-lt"/>
              </a:rPr>
              <a:t>is </a:t>
            </a:r>
            <a:r>
              <a:rPr lang="en-US">
                <a:ea typeface="+mn-lt"/>
                <a:cs typeface="+mn-lt"/>
              </a:rPr>
              <a:t>to analyze as many </a:t>
            </a:r>
            <a:r>
              <a:rPr lang="en-US" noProof="0">
                <a:ea typeface="+mn-lt"/>
                <a:cs typeface="+mn-lt"/>
              </a:rPr>
              <a:t>clinical </a:t>
            </a:r>
            <a:r>
              <a:rPr lang="en-US">
                <a:ea typeface="+mn-lt"/>
                <a:cs typeface="+mn-lt"/>
              </a:rPr>
              <a:t>definitions as possible to create </a:t>
            </a:r>
            <a:r>
              <a:rPr lang="en-US" noProof="0">
                <a:ea typeface="+mn-lt"/>
                <a:cs typeface="+mn-lt"/>
              </a:rPr>
              <a:t>machine learning </a:t>
            </a:r>
            <a:r>
              <a:rPr lang="en-US">
                <a:ea typeface="+mn-lt"/>
                <a:cs typeface="+mn-lt"/>
              </a:rPr>
              <a:t>algorithms </a:t>
            </a:r>
            <a:r>
              <a:rPr lang="en-US" noProof="0">
                <a:ea typeface="+mn-lt"/>
                <a:cs typeface="+mn-lt"/>
              </a:rPr>
              <a:t>that </a:t>
            </a:r>
            <a:r>
              <a:rPr lang="en-US">
                <a:ea typeface="+mn-lt"/>
                <a:cs typeface="+mn-lt"/>
              </a:rPr>
              <a:t>will accurately predict whether someone has a </a:t>
            </a:r>
            <a:r>
              <a:rPr lang="en-US" noProof="0">
                <a:ea typeface="+mn-lt"/>
                <a:cs typeface="+mn-lt"/>
              </a:rPr>
              <a:t>heart </a:t>
            </a:r>
            <a:r>
              <a:rPr lang="en-US">
                <a:ea typeface="+mn-lt"/>
                <a:cs typeface="+mn-lt"/>
              </a:rPr>
              <a:t>condition</a:t>
            </a:r>
            <a:r>
              <a:rPr lang="en-US" noProof="0">
                <a:ea typeface="+mn-lt"/>
                <a:cs typeface="+mn-lt"/>
              </a:rPr>
              <a:t>.</a:t>
            </a:r>
          </a:p>
          <a:p>
            <a:r>
              <a:rPr lang="en-US">
                <a:ea typeface="+mn-lt"/>
                <a:cs typeface="+mn-lt"/>
              </a:rPr>
              <a:t>The data set also contains an extensive array </a:t>
            </a:r>
            <a:r>
              <a:rPr lang="en-US" noProof="0">
                <a:ea typeface="+mn-lt"/>
                <a:cs typeface="+mn-lt"/>
              </a:rPr>
              <a:t>of physiological </a:t>
            </a:r>
            <a:r>
              <a:rPr lang="en-US">
                <a:ea typeface="+mn-lt"/>
                <a:cs typeface="+mn-lt"/>
              </a:rPr>
              <a:t>characteristics about individuals. This information can include (but </a:t>
            </a:r>
            <a:r>
              <a:rPr lang="en-US" noProof="0">
                <a:ea typeface="+mn-lt"/>
                <a:cs typeface="+mn-lt"/>
              </a:rPr>
              <a:t>is </a:t>
            </a:r>
            <a:r>
              <a:rPr lang="en-US">
                <a:ea typeface="+mn-lt"/>
                <a:cs typeface="+mn-lt"/>
              </a:rPr>
              <a:t>not limited to) the patient's </a:t>
            </a:r>
            <a:r>
              <a:rPr lang="en-US" noProof="0">
                <a:ea typeface="+mn-lt"/>
                <a:cs typeface="+mn-lt"/>
              </a:rPr>
              <a:t>age, </a:t>
            </a:r>
            <a:r>
              <a:rPr lang="en-US">
                <a:ea typeface="+mn-lt"/>
                <a:cs typeface="+mn-lt"/>
              </a:rPr>
              <a:t>gender</a:t>
            </a:r>
            <a:r>
              <a:rPr lang="en-US" noProof="0">
                <a:ea typeface="+mn-lt"/>
                <a:cs typeface="+mn-lt"/>
              </a:rPr>
              <a:t>, </a:t>
            </a:r>
            <a:r>
              <a:rPr lang="en-US">
                <a:ea typeface="+mn-lt"/>
                <a:cs typeface="+mn-lt"/>
              </a:rPr>
              <a:t>and what type of </a:t>
            </a:r>
            <a:r>
              <a:rPr lang="en-US" noProof="0">
                <a:ea typeface="+mn-lt"/>
                <a:cs typeface="+mn-lt"/>
              </a:rPr>
              <a:t>chest pain </a:t>
            </a:r>
            <a:r>
              <a:rPr lang="en-US">
                <a:ea typeface="+mn-lt"/>
                <a:cs typeface="+mn-lt"/>
              </a:rPr>
              <a:t>they experience</a:t>
            </a:r>
            <a:r>
              <a:rPr lang="en-US" noProof="0">
                <a:ea typeface="+mn-lt"/>
                <a:cs typeface="+mn-lt"/>
              </a:rPr>
              <a:t>, </a:t>
            </a:r>
            <a:r>
              <a:rPr lang="en-US">
                <a:ea typeface="+mn-lt"/>
                <a:cs typeface="+mn-lt"/>
              </a:rPr>
              <a:t>as well as their </a:t>
            </a:r>
            <a:r>
              <a:rPr lang="en-US" noProof="0">
                <a:ea typeface="+mn-lt"/>
                <a:cs typeface="+mn-lt"/>
              </a:rPr>
              <a:t>maximum heart rate</a:t>
            </a:r>
            <a:r>
              <a:rPr lang="en-US">
                <a:ea typeface="+mn-lt"/>
                <a:cs typeface="+mn-lt"/>
              </a:rPr>
              <a:t>. The predictive models will then analyze this data in order to determine any</a:t>
            </a:r>
            <a:r>
              <a:rPr lang="en-US" noProof="0">
                <a:ea typeface="+mn-lt"/>
                <a:cs typeface="+mn-lt"/>
              </a:rPr>
              <a:t> underlying </a:t>
            </a:r>
            <a:r>
              <a:rPr lang="en-US">
                <a:ea typeface="+mn-lt"/>
                <a:cs typeface="+mn-lt"/>
              </a:rPr>
              <a:t>relationships between these variables and an individual's overall </a:t>
            </a:r>
            <a:r>
              <a:rPr lang="en-US" noProof="0">
                <a:ea typeface="+mn-lt"/>
                <a:cs typeface="+mn-lt"/>
              </a:rPr>
              <a:t>cardiovascular health.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A618156A-F178-5442-511B-EFC3C6182ECF}"/>
              </a:ext>
            </a:extLst>
          </p:cNvPr>
          <p:cNvSpPr txBox="1"/>
          <p:nvPr/>
        </p:nvSpPr>
        <p:spPr>
          <a:xfrm>
            <a:off x="913775" y="6239483"/>
            <a:ext cx="63892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0" dirty="0"/>
              <a:t>HEART DISEASE DATASET URL: </a:t>
            </a:r>
            <a:r>
              <a:rPr lang="en-US" sz="1200" noProof="0" dirty="0">
                <a:hlinkClick r:id="rId2"/>
              </a:rPr>
              <a:t>https://www.kaggle.com/datasets/johnsmith88/heart-disease-dataset</a:t>
            </a:r>
            <a:endParaRPr lang="en-US" sz="1200" noProof="0" dirty="0"/>
          </a:p>
        </p:txBody>
      </p:sp>
    </p:spTree>
    <p:extLst>
      <p:ext uri="{BB962C8B-B14F-4D97-AF65-F5344CB8AC3E}">
        <p14:creationId xmlns:p14="http://schemas.microsoft.com/office/powerpoint/2010/main" val="1807317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7049D1B-3DAB-E719-1288-AD7EA234B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DATA CLEANING &amp; Preprocessing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7A0C2C5-2279-1002-DC1B-40064FC28D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 dirty="0">
                <a:ea typeface="+mn-lt"/>
                <a:cs typeface="+mn-lt"/>
              </a:rPr>
              <a:t>At first</a:t>
            </a:r>
            <a:r>
              <a:rPr lang="en-US" noProof="0" dirty="0">
                <a:ea typeface="+mn-lt"/>
                <a:cs typeface="+mn-lt"/>
              </a:rPr>
              <a:t>, data integrity was </a:t>
            </a:r>
            <a:r>
              <a:rPr lang="en-US" dirty="0">
                <a:ea typeface="+mn-lt"/>
                <a:cs typeface="+mn-lt"/>
              </a:rPr>
              <a:t>confirmed by evaluating the dataset for any </a:t>
            </a:r>
            <a:r>
              <a:rPr lang="en-US" noProof="0" dirty="0">
                <a:ea typeface="+mn-lt"/>
                <a:cs typeface="+mn-lt"/>
              </a:rPr>
              <a:t>missing values. </a:t>
            </a:r>
            <a:r>
              <a:rPr lang="en-US" dirty="0">
                <a:ea typeface="+mn-lt"/>
                <a:cs typeface="+mn-lt"/>
              </a:rPr>
              <a:t>After that</a:t>
            </a:r>
            <a:r>
              <a:rPr lang="en-US" noProof="0" dirty="0">
                <a:ea typeface="+mn-lt"/>
                <a:cs typeface="+mn-lt"/>
              </a:rPr>
              <a:t>, data transformation techniques </a:t>
            </a:r>
            <a:r>
              <a:rPr lang="en-US" dirty="0">
                <a:ea typeface="+mn-lt"/>
                <a:cs typeface="+mn-lt"/>
              </a:rPr>
              <a:t>were Applied so that </a:t>
            </a:r>
            <a:r>
              <a:rPr lang="en-US" noProof="0" dirty="0">
                <a:ea typeface="+mn-lt"/>
                <a:cs typeface="+mn-lt"/>
              </a:rPr>
              <a:t>the </a:t>
            </a:r>
            <a:r>
              <a:rPr lang="en-US" dirty="0">
                <a:ea typeface="+mn-lt"/>
                <a:cs typeface="+mn-lt"/>
              </a:rPr>
              <a:t>data could be used by</a:t>
            </a:r>
            <a:r>
              <a:rPr lang="en-US" noProof="0" dirty="0">
                <a:ea typeface="+mn-lt"/>
                <a:cs typeface="+mn-lt"/>
              </a:rPr>
              <a:t> machine learning models.</a:t>
            </a:r>
          </a:p>
          <a:p>
            <a:pPr marL="457200" indent="-457200">
              <a:buFont typeface="+mj-lt"/>
              <a:buAutoNum type="arabicPeriod"/>
            </a:pPr>
            <a:r>
              <a:rPr lang="en-US" noProof="0" dirty="0"/>
              <a:t>Categorical variables, including sex, chest pain type, and fasting blood sugar, were converted into factor data types to ensure proper categorical interpretation.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noProof="0" dirty="0"/>
              <a:t>For numeric features such as age, cholesterol levels, and resting blood pressure, standard scaling was applied. This normalization process ensures that distance-based algorithms function optimally without being biased by varying feature scales.</a:t>
            </a:r>
          </a:p>
          <a:p>
            <a:r>
              <a:rPr lang="en-US" dirty="0">
                <a:ea typeface="+mn-lt"/>
                <a:cs typeface="+mn-lt"/>
              </a:rPr>
              <a:t>In conclusion</a:t>
            </a:r>
            <a:r>
              <a:rPr lang="en-US" noProof="0" dirty="0">
                <a:ea typeface="+mn-lt"/>
                <a:cs typeface="+mn-lt"/>
              </a:rPr>
              <a:t>, the processed dataset was </a:t>
            </a:r>
            <a:r>
              <a:rPr lang="en-US" dirty="0">
                <a:ea typeface="+mn-lt"/>
                <a:cs typeface="+mn-lt"/>
              </a:rPr>
              <a:t>split </a:t>
            </a:r>
            <a:r>
              <a:rPr lang="en-US" noProof="0" dirty="0">
                <a:ea typeface="+mn-lt"/>
                <a:cs typeface="+mn-lt"/>
              </a:rPr>
              <a:t>into two </a:t>
            </a:r>
            <a:r>
              <a:rPr lang="en-US" dirty="0">
                <a:ea typeface="+mn-lt"/>
                <a:cs typeface="+mn-lt"/>
              </a:rPr>
              <a:t>separate datasets for </a:t>
            </a:r>
            <a:r>
              <a:rPr lang="en-US" noProof="0" dirty="0">
                <a:ea typeface="+mn-lt"/>
                <a:cs typeface="+mn-lt"/>
              </a:rPr>
              <a:t>model evaluation</a:t>
            </a:r>
            <a:r>
              <a:rPr lang="en-US" dirty="0">
                <a:ea typeface="+mn-lt"/>
                <a:cs typeface="+mn-lt"/>
              </a:rPr>
              <a:t> purposes</a:t>
            </a:r>
            <a:r>
              <a:rPr lang="en-US" noProof="0" dirty="0">
                <a:ea typeface="+mn-lt"/>
                <a:cs typeface="+mn-lt"/>
              </a:rPr>
              <a:t>. </a:t>
            </a:r>
            <a:r>
              <a:rPr lang="en-US" dirty="0">
                <a:ea typeface="+mn-lt"/>
                <a:cs typeface="+mn-lt"/>
              </a:rPr>
              <a:t>In this case</a:t>
            </a:r>
            <a:r>
              <a:rPr lang="en-US" noProof="0" dirty="0">
                <a:ea typeface="+mn-lt"/>
                <a:cs typeface="+mn-lt"/>
              </a:rPr>
              <a:t>, </a:t>
            </a:r>
            <a:r>
              <a:rPr lang="en-US" dirty="0">
                <a:ea typeface="+mn-lt"/>
                <a:cs typeface="+mn-lt"/>
              </a:rPr>
              <a:t>the </a:t>
            </a:r>
            <a:r>
              <a:rPr lang="en-US" noProof="0" dirty="0">
                <a:ea typeface="+mn-lt"/>
                <a:cs typeface="+mn-lt"/>
              </a:rPr>
              <a:t>80% of the </a:t>
            </a:r>
            <a:r>
              <a:rPr lang="en-US" dirty="0">
                <a:ea typeface="+mn-lt"/>
                <a:cs typeface="+mn-lt"/>
              </a:rPr>
              <a:t>overall dataset has been assigned </a:t>
            </a:r>
            <a:r>
              <a:rPr lang="en-US" noProof="0" dirty="0">
                <a:ea typeface="+mn-lt"/>
                <a:cs typeface="+mn-lt"/>
              </a:rPr>
              <a:t>to the training set </a:t>
            </a:r>
            <a:r>
              <a:rPr lang="en-US" dirty="0">
                <a:ea typeface="+mn-lt"/>
                <a:cs typeface="+mn-lt"/>
              </a:rPr>
              <a:t>(to develop the </a:t>
            </a:r>
            <a:r>
              <a:rPr lang="en-US" noProof="0" dirty="0">
                <a:ea typeface="+mn-lt"/>
                <a:cs typeface="+mn-lt"/>
              </a:rPr>
              <a:t>model</a:t>
            </a:r>
            <a:r>
              <a:rPr lang="en-US" dirty="0">
                <a:ea typeface="+mn-lt"/>
                <a:cs typeface="+mn-lt"/>
              </a:rPr>
              <a:t>), whilst</a:t>
            </a:r>
            <a:r>
              <a:rPr lang="en-US" noProof="0" dirty="0">
                <a:ea typeface="+mn-lt"/>
                <a:cs typeface="+mn-lt"/>
              </a:rPr>
              <a:t> the remaining 20% </a:t>
            </a:r>
            <a:r>
              <a:rPr lang="en-US" dirty="0">
                <a:ea typeface="+mn-lt"/>
                <a:cs typeface="+mn-lt"/>
              </a:rPr>
              <a:t>will be used </a:t>
            </a:r>
            <a:r>
              <a:rPr lang="en-US" noProof="0" dirty="0">
                <a:ea typeface="+mn-lt"/>
                <a:cs typeface="+mn-lt"/>
              </a:rPr>
              <a:t>as </a:t>
            </a:r>
            <a:r>
              <a:rPr lang="en-US" dirty="0">
                <a:ea typeface="+mn-lt"/>
                <a:cs typeface="+mn-lt"/>
              </a:rPr>
              <a:t>test data </a:t>
            </a:r>
            <a:r>
              <a:rPr lang="en-US" noProof="0" dirty="0">
                <a:ea typeface="+mn-lt"/>
                <a:cs typeface="+mn-lt"/>
              </a:rPr>
              <a:t>to </a:t>
            </a:r>
            <a:r>
              <a:rPr lang="en-US" dirty="0">
                <a:ea typeface="+mn-lt"/>
                <a:cs typeface="+mn-lt"/>
              </a:rPr>
              <a:t>evaluate how well the model can predict</a:t>
            </a:r>
            <a:r>
              <a:rPr lang="en-US" noProof="0" dirty="0">
                <a:ea typeface="+mn-lt"/>
                <a:cs typeface="+mn-lt"/>
              </a:rPr>
              <a:t> on unseen data.</a:t>
            </a:r>
          </a:p>
        </p:txBody>
      </p:sp>
    </p:spTree>
    <p:extLst>
      <p:ext uri="{BB962C8B-B14F-4D97-AF65-F5344CB8AC3E}">
        <p14:creationId xmlns:p14="http://schemas.microsoft.com/office/powerpoint/2010/main" val="701050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85FA6A-140A-C292-BF4C-6D7D73314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61210F8D-F7F2-47FC-91CB-247E361A59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Resim 10">
            <a:extLst>
              <a:ext uri="{FF2B5EF4-FFF2-40B4-BE49-F238E27FC236}">
                <a16:creationId xmlns:a16="http://schemas.microsoft.com/office/drawing/2014/main" id="{21E3B8B6-6D2C-D545-7ED9-E9A41AFC9E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846" y="618518"/>
            <a:ext cx="5211770" cy="5172682"/>
          </a:xfrm>
          <a:prstGeom prst="roundRect">
            <a:avLst>
              <a:gd name="adj" fmla="val 5301"/>
            </a:avLst>
          </a:prstGeom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1509D60-00A2-43CB-85EE-55A4E714B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Başlık 1">
            <a:extLst>
              <a:ext uri="{FF2B5EF4-FFF2-40B4-BE49-F238E27FC236}">
                <a16:creationId xmlns:a16="http://schemas.microsoft.com/office/drawing/2014/main" id="{F392FFDA-5A38-BE98-74D3-15627414D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7733" y="618517"/>
            <a:ext cx="4860494" cy="1596177"/>
          </a:xfrm>
        </p:spPr>
        <p:txBody>
          <a:bodyPr>
            <a:normAutofit/>
          </a:bodyPr>
          <a:lstStyle/>
          <a:p>
            <a:r>
              <a:rPr lang="en-US" noProof="0" dirty="0"/>
              <a:t>Exploratory Data Analysis:</a:t>
            </a:r>
            <a:br>
              <a:rPr lang="en-US" noProof="0" dirty="0"/>
            </a:br>
            <a:r>
              <a:rPr lang="en-US" noProof="0" dirty="0"/>
              <a:t>Correlation Matrix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E3A0B0E-0897-25EA-F5B6-5BD2FB677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7399" y="2570205"/>
            <a:ext cx="4860201" cy="3220994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1800">
                <a:ea typeface="+mn-lt"/>
                <a:cs typeface="+mn-lt"/>
              </a:rPr>
              <a:t>To examine the associations between numeric features, a </a:t>
            </a:r>
            <a:r>
              <a:rPr lang="en-US" sz="1800" noProof="0">
                <a:ea typeface="+mn-lt"/>
                <a:cs typeface="+mn-lt"/>
              </a:rPr>
              <a:t>correlation matrix was </a:t>
            </a:r>
            <a:r>
              <a:rPr lang="en-US" sz="1800">
                <a:ea typeface="+mn-lt"/>
                <a:cs typeface="+mn-lt"/>
              </a:rPr>
              <a:t>created</a:t>
            </a:r>
            <a:r>
              <a:rPr lang="en-US" sz="1800" noProof="0">
                <a:ea typeface="+mn-lt"/>
                <a:cs typeface="+mn-lt"/>
              </a:rPr>
              <a:t>. A </a:t>
            </a:r>
            <a:r>
              <a:rPr lang="en-US" sz="1800">
                <a:ea typeface="+mn-lt"/>
                <a:cs typeface="+mn-lt"/>
              </a:rPr>
              <a:t>strong inverse </a:t>
            </a:r>
            <a:r>
              <a:rPr lang="en-US" sz="1800" noProof="0">
                <a:ea typeface="+mn-lt"/>
                <a:cs typeface="+mn-lt"/>
              </a:rPr>
              <a:t>correlation (-0.39) </a:t>
            </a:r>
            <a:r>
              <a:rPr lang="en-US" sz="1800">
                <a:ea typeface="+mn-lt"/>
                <a:cs typeface="+mn-lt"/>
              </a:rPr>
              <a:t>was noted </a:t>
            </a:r>
            <a:r>
              <a:rPr lang="en-US" sz="1800" noProof="0">
                <a:ea typeface="+mn-lt"/>
                <a:cs typeface="+mn-lt"/>
              </a:rPr>
              <a:t>between </a:t>
            </a:r>
            <a:r>
              <a:rPr lang="en-US" sz="1800">
                <a:ea typeface="+mn-lt"/>
                <a:cs typeface="+mn-lt"/>
              </a:rPr>
              <a:t>the variable Age </a:t>
            </a:r>
            <a:r>
              <a:rPr lang="en-US" sz="1800" noProof="0">
                <a:ea typeface="+mn-lt"/>
                <a:cs typeface="+mn-lt"/>
              </a:rPr>
              <a:t>and </a:t>
            </a:r>
            <a:r>
              <a:rPr lang="en-US" sz="1800">
                <a:ea typeface="+mn-lt"/>
                <a:cs typeface="+mn-lt"/>
              </a:rPr>
              <a:t>the variable Maximum Heart Rate</a:t>
            </a:r>
            <a:r>
              <a:rPr lang="en-US" sz="1800" noProof="0">
                <a:ea typeface="+mn-lt"/>
                <a:cs typeface="+mn-lt"/>
              </a:rPr>
              <a:t>. Other variables </a:t>
            </a:r>
            <a:r>
              <a:rPr lang="en-US" sz="1800">
                <a:ea typeface="+mn-lt"/>
                <a:cs typeface="+mn-lt"/>
              </a:rPr>
              <a:t>had </a:t>
            </a:r>
            <a:r>
              <a:rPr lang="en-US" sz="1800" noProof="0">
                <a:ea typeface="+mn-lt"/>
                <a:cs typeface="+mn-lt"/>
              </a:rPr>
              <a:t>weak linear relationships</a:t>
            </a:r>
            <a:r>
              <a:rPr lang="en-US" sz="1800">
                <a:ea typeface="+mn-lt"/>
                <a:cs typeface="+mn-lt"/>
              </a:rPr>
              <a:t> with each other suggesting there </a:t>
            </a:r>
            <a:r>
              <a:rPr lang="en-US" sz="1800" noProof="0">
                <a:ea typeface="+mn-lt"/>
                <a:cs typeface="+mn-lt"/>
              </a:rPr>
              <a:t>is </a:t>
            </a:r>
            <a:r>
              <a:rPr lang="en-US" sz="1800">
                <a:ea typeface="+mn-lt"/>
                <a:cs typeface="+mn-lt"/>
              </a:rPr>
              <a:t>not a large amount of multicollinearity </a:t>
            </a:r>
            <a:r>
              <a:rPr lang="en-US" sz="1800" noProof="0">
                <a:ea typeface="+mn-lt"/>
                <a:cs typeface="+mn-lt"/>
              </a:rPr>
              <a:t>present </a:t>
            </a:r>
            <a:r>
              <a:rPr lang="en-US" sz="1800">
                <a:ea typeface="+mn-lt"/>
                <a:cs typeface="+mn-lt"/>
              </a:rPr>
              <a:t>between any of </a:t>
            </a:r>
            <a:r>
              <a:rPr lang="en-US" sz="1800" noProof="0">
                <a:ea typeface="+mn-lt"/>
                <a:cs typeface="+mn-lt"/>
              </a:rPr>
              <a:t>the numeric </a:t>
            </a:r>
            <a:r>
              <a:rPr lang="en-US" sz="1800">
                <a:ea typeface="+mn-lt"/>
                <a:cs typeface="+mn-lt"/>
              </a:rPr>
              <a:t>variables</a:t>
            </a:r>
            <a:r>
              <a:rPr lang="en-US" sz="1800" noProof="0">
                <a:ea typeface="+mn-lt"/>
                <a:cs typeface="+mn-lt"/>
              </a:rPr>
              <a:t>.</a:t>
            </a:r>
          </a:p>
        </p:txBody>
      </p:sp>
      <p:sp>
        <p:nvSpPr>
          <p:cNvPr id="7" name="İçerik Yer Tutucusu 2">
            <a:extLst>
              <a:ext uri="{FF2B5EF4-FFF2-40B4-BE49-F238E27FC236}">
                <a16:creationId xmlns:a16="http://schemas.microsoft.com/office/drawing/2014/main" id="{D002BD6E-E3EC-9DE8-7704-7C24FCAD8827}"/>
              </a:ext>
            </a:extLst>
          </p:cNvPr>
          <p:cNvSpPr txBox="1">
            <a:spLocks/>
          </p:cNvSpPr>
          <p:nvPr/>
        </p:nvSpPr>
        <p:spPr>
          <a:xfrm>
            <a:off x="8740587" y="2367092"/>
            <a:ext cx="3913406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49798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D19D9C-352D-2350-8073-811B2AD64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D20EF05B-48CD-41DE-82FE-C25A5A300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ounded Rectangle 12">
            <a:extLst>
              <a:ext uri="{FF2B5EF4-FFF2-40B4-BE49-F238E27FC236}">
                <a16:creationId xmlns:a16="http://schemas.microsoft.com/office/drawing/2014/main" id="{C9DFF8EB-B522-4773-B8CF-C10622C1FA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81991" y="887150"/>
            <a:ext cx="4104281" cy="4940394"/>
          </a:xfrm>
          <a:prstGeom prst="roundRect">
            <a:avLst>
              <a:gd name="adj" fmla="val 4448"/>
            </a:avLst>
          </a:prstGeom>
          <a:solidFill>
            <a:srgbClr val="FFFFFF"/>
          </a:solidFill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None/>
            </a:pPr>
            <a:endParaRPr lang="en-US" sz="3200" cap="all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48206DB0-F0F8-63BA-0FF7-E1DB572B44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479" r="9519" b="4"/>
          <a:stretch>
            <a:fillRect/>
          </a:stretch>
        </p:blipFill>
        <p:spPr>
          <a:xfrm>
            <a:off x="7756448" y="1349992"/>
            <a:ext cx="3155366" cy="401471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6EA99E25-F57B-4182-929C-D5A100153A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Başlık 1">
            <a:extLst>
              <a:ext uri="{FF2B5EF4-FFF2-40B4-BE49-F238E27FC236}">
                <a16:creationId xmlns:a16="http://schemas.microsoft.com/office/drawing/2014/main" id="{A18FDF24-8661-535E-6BD7-3E205B347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6" y="618517"/>
            <a:ext cx="5910272" cy="1596177"/>
          </a:xfrm>
        </p:spPr>
        <p:txBody>
          <a:bodyPr>
            <a:normAutofit/>
          </a:bodyPr>
          <a:lstStyle/>
          <a:p>
            <a:r>
              <a:rPr lang="en-US" noProof="0"/>
              <a:t>Exploratory Data Analysis:</a:t>
            </a:r>
            <a:br>
              <a:rPr lang="en-US" noProof="0"/>
            </a:br>
            <a:r>
              <a:rPr lang="en-US" noProof="0"/>
              <a:t>Target Distribution</a:t>
            </a:r>
            <a:endParaRPr lang="en-US" noProof="0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98D6286-E7BE-63BD-05B1-B04D09ECDF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5" y="2508422"/>
            <a:ext cx="5910274" cy="328277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Clr>
                <a:srgbClr val="000000"/>
              </a:buClr>
            </a:pPr>
            <a:r>
              <a:rPr lang="en-US">
                <a:ea typeface="+mn-lt"/>
                <a:cs typeface="+mn-lt"/>
              </a:rPr>
              <a:t>To determine class imbalance, the </a:t>
            </a:r>
            <a:r>
              <a:rPr lang="en-US" noProof="0">
                <a:ea typeface="+mn-lt"/>
                <a:cs typeface="+mn-lt"/>
              </a:rPr>
              <a:t>distribution of the target variable was visualized. </a:t>
            </a:r>
            <a:r>
              <a:rPr lang="en-US">
                <a:ea typeface="+mn-lt"/>
                <a:cs typeface="+mn-lt"/>
              </a:rPr>
              <a:t>The </a:t>
            </a:r>
            <a:r>
              <a:rPr lang="en-US" noProof="0">
                <a:ea typeface="+mn-lt"/>
                <a:cs typeface="+mn-lt"/>
              </a:rPr>
              <a:t>dataset </a:t>
            </a:r>
            <a:r>
              <a:rPr lang="en-US">
                <a:ea typeface="+mn-lt"/>
                <a:cs typeface="+mn-lt"/>
              </a:rPr>
              <a:t>is balanced; however, there seems to be </a:t>
            </a:r>
            <a:r>
              <a:rPr lang="en-US" noProof="0">
                <a:ea typeface="+mn-lt"/>
                <a:cs typeface="+mn-lt"/>
              </a:rPr>
              <a:t>a </a:t>
            </a:r>
            <a:r>
              <a:rPr lang="en-US">
                <a:ea typeface="+mn-lt"/>
                <a:cs typeface="+mn-lt"/>
              </a:rPr>
              <a:t>slight excess </a:t>
            </a:r>
            <a:r>
              <a:rPr lang="en-US" noProof="0">
                <a:ea typeface="+mn-lt"/>
                <a:cs typeface="+mn-lt"/>
              </a:rPr>
              <a:t>of positive heart disease cases (</a:t>
            </a:r>
            <a:r>
              <a:rPr lang="en-US">
                <a:ea typeface="+mn-lt"/>
                <a:cs typeface="+mn-lt"/>
              </a:rPr>
              <a:t>i.e., </a:t>
            </a:r>
            <a:r>
              <a:rPr lang="en-US" noProof="0">
                <a:ea typeface="+mn-lt"/>
                <a:cs typeface="+mn-lt"/>
              </a:rPr>
              <a:t>Target 1) </a:t>
            </a:r>
            <a:r>
              <a:rPr lang="en-US">
                <a:ea typeface="+mn-lt"/>
                <a:cs typeface="+mn-lt"/>
              </a:rPr>
              <a:t>over </a:t>
            </a:r>
            <a:r>
              <a:rPr lang="en-US" noProof="0">
                <a:ea typeface="+mn-lt"/>
                <a:cs typeface="+mn-lt"/>
              </a:rPr>
              <a:t>negative </a:t>
            </a:r>
            <a:r>
              <a:rPr lang="en-US">
                <a:ea typeface="+mn-lt"/>
                <a:cs typeface="+mn-lt"/>
              </a:rPr>
              <a:t>heart disease </a:t>
            </a:r>
            <a:r>
              <a:rPr lang="en-US" noProof="0">
                <a:ea typeface="+mn-lt"/>
                <a:cs typeface="+mn-lt"/>
              </a:rPr>
              <a:t>cases (</a:t>
            </a:r>
            <a:r>
              <a:rPr lang="en-US">
                <a:ea typeface="+mn-lt"/>
                <a:cs typeface="+mn-lt"/>
              </a:rPr>
              <a:t>i.e., </a:t>
            </a:r>
            <a:r>
              <a:rPr lang="en-US" noProof="0">
                <a:ea typeface="+mn-lt"/>
                <a:cs typeface="+mn-lt"/>
              </a:rPr>
              <a:t>Target 0).</a:t>
            </a:r>
            <a:endParaRPr lang="tr-TR">
              <a:ea typeface="+mn-lt"/>
              <a:cs typeface="+mn-lt"/>
            </a:endParaRPr>
          </a:p>
        </p:txBody>
      </p:sp>
      <p:sp>
        <p:nvSpPr>
          <p:cNvPr id="7" name="İçerik Yer Tutucusu 2">
            <a:extLst>
              <a:ext uri="{FF2B5EF4-FFF2-40B4-BE49-F238E27FC236}">
                <a16:creationId xmlns:a16="http://schemas.microsoft.com/office/drawing/2014/main" id="{2080BFBC-8B94-01E0-0AB5-B2B436C5686E}"/>
              </a:ext>
            </a:extLst>
          </p:cNvPr>
          <p:cNvSpPr txBox="1">
            <a:spLocks/>
          </p:cNvSpPr>
          <p:nvPr/>
        </p:nvSpPr>
        <p:spPr>
          <a:xfrm>
            <a:off x="8740587" y="2367092"/>
            <a:ext cx="3913406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261521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B78D30-3E1A-1AF6-F5D9-F90898F2C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39">
            <a:extLst>
              <a:ext uri="{FF2B5EF4-FFF2-40B4-BE49-F238E27FC236}">
                <a16:creationId xmlns:a16="http://schemas.microsoft.com/office/drawing/2014/main" id="{D20EF05B-48CD-41DE-82FE-C25A5A300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ounded Rectangle 12">
            <a:extLst>
              <a:ext uri="{FF2B5EF4-FFF2-40B4-BE49-F238E27FC236}">
                <a16:creationId xmlns:a16="http://schemas.microsoft.com/office/drawing/2014/main" id="{C9DFF8EB-B522-4773-B8CF-C10622C1FA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81991" y="887150"/>
            <a:ext cx="4104281" cy="4940394"/>
          </a:xfrm>
          <a:prstGeom prst="roundRect">
            <a:avLst>
              <a:gd name="adj" fmla="val 4448"/>
            </a:avLst>
          </a:prstGeom>
          <a:solidFill>
            <a:srgbClr val="FFFFFF"/>
          </a:solidFill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None/>
            </a:pPr>
            <a:endParaRPr lang="en-US" sz="3200" cap="all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FC648F5D-3377-7A8A-19A6-45B1B38F8F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1997" b="4"/>
          <a:stretch>
            <a:fillRect/>
          </a:stretch>
        </p:blipFill>
        <p:spPr>
          <a:xfrm>
            <a:off x="7756448" y="1349992"/>
            <a:ext cx="3155366" cy="401471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6EA99E25-F57B-4182-929C-D5A100153A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Başlık 1">
            <a:extLst>
              <a:ext uri="{FF2B5EF4-FFF2-40B4-BE49-F238E27FC236}">
                <a16:creationId xmlns:a16="http://schemas.microsoft.com/office/drawing/2014/main" id="{A94122DF-EF85-191B-3CC0-4784435D6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6" y="618517"/>
            <a:ext cx="5910272" cy="1596177"/>
          </a:xfrm>
        </p:spPr>
        <p:txBody>
          <a:bodyPr>
            <a:normAutofit/>
          </a:bodyPr>
          <a:lstStyle/>
          <a:p>
            <a:r>
              <a:rPr lang="en-US" noProof="0"/>
              <a:t>Exploratory Data Analysis:</a:t>
            </a:r>
            <a:br>
              <a:rPr lang="en-US"/>
            </a:br>
            <a:r>
              <a:rPr lang="en-US"/>
              <a:t>Age Distribution by Target</a:t>
            </a:r>
            <a:endParaRPr lang="en-US" noProof="0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DEF7655-AE0C-45B9-822E-B1F2AF0A9E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5" y="2570205"/>
            <a:ext cx="5910274" cy="322099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Clr>
                <a:srgbClr val="000000"/>
              </a:buClr>
            </a:pPr>
            <a:r>
              <a:rPr lang="en-US" noProof="0">
                <a:ea typeface="+mn-lt"/>
                <a:cs typeface="+mn-lt"/>
              </a:rPr>
              <a:t>An overlapping histogram was </a:t>
            </a:r>
            <a:r>
              <a:rPr lang="en-US">
                <a:ea typeface="+mn-lt"/>
                <a:cs typeface="+mn-lt"/>
              </a:rPr>
              <a:t>constructed </a:t>
            </a:r>
            <a:r>
              <a:rPr lang="en-US" noProof="0">
                <a:ea typeface="+mn-lt"/>
                <a:cs typeface="+mn-lt"/>
              </a:rPr>
              <a:t>to </a:t>
            </a:r>
            <a:r>
              <a:rPr lang="en-US">
                <a:ea typeface="+mn-lt"/>
                <a:cs typeface="+mn-lt"/>
              </a:rPr>
              <a:t>evaluate </a:t>
            </a:r>
            <a:r>
              <a:rPr lang="en-US" noProof="0">
                <a:ea typeface="+mn-lt"/>
                <a:cs typeface="+mn-lt"/>
              </a:rPr>
              <a:t>the age </a:t>
            </a:r>
            <a:r>
              <a:rPr lang="en-US">
                <a:ea typeface="+mn-lt"/>
                <a:cs typeface="+mn-lt"/>
              </a:rPr>
              <a:t>profile of each of </a:t>
            </a:r>
            <a:r>
              <a:rPr lang="en-US" noProof="0">
                <a:ea typeface="+mn-lt"/>
                <a:cs typeface="+mn-lt"/>
              </a:rPr>
              <a:t>the target classes. </a:t>
            </a:r>
            <a:r>
              <a:rPr lang="en-US">
                <a:ea typeface="+mn-lt"/>
                <a:cs typeface="+mn-lt"/>
              </a:rPr>
              <a:t>Positive </a:t>
            </a:r>
            <a:r>
              <a:rPr lang="en-US" noProof="0">
                <a:ea typeface="+mn-lt"/>
                <a:cs typeface="+mn-lt"/>
              </a:rPr>
              <a:t>cases (Target 1) </a:t>
            </a:r>
            <a:r>
              <a:rPr lang="en-US">
                <a:ea typeface="+mn-lt"/>
                <a:cs typeface="+mn-lt"/>
              </a:rPr>
              <a:t>fall into a significant concentration </a:t>
            </a:r>
            <a:r>
              <a:rPr lang="en-US" noProof="0">
                <a:ea typeface="+mn-lt"/>
                <a:cs typeface="+mn-lt"/>
              </a:rPr>
              <a:t>in the middle-age range, </a:t>
            </a:r>
            <a:r>
              <a:rPr lang="en-US">
                <a:ea typeface="+mn-lt"/>
                <a:cs typeface="+mn-lt"/>
              </a:rPr>
              <a:t>while </a:t>
            </a:r>
            <a:r>
              <a:rPr lang="en-US" noProof="0">
                <a:ea typeface="+mn-lt"/>
                <a:cs typeface="+mn-lt"/>
              </a:rPr>
              <a:t>negative cases (Target 0) </a:t>
            </a:r>
            <a:r>
              <a:rPr lang="en-US">
                <a:ea typeface="+mn-lt"/>
                <a:cs typeface="+mn-lt"/>
              </a:rPr>
              <a:t>have </a:t>
            </a:r>
            <a:r>
              <a:rPr lang="en-US" noProof="0">
                <a:ea typeface="+mn-lt"/>
                <a:cs typeface="+mn-lt"/>
              </a:rPr>
              <a:t>a </a:t>
            </a:r>
            <a:r>
              <a:rPr lang="en-US">
                <a:ea typeface="+mn-lt"/>
                <a:cs typeface="+mn-lt"/>
              </a:rPr>
              <a:t>somewhat </a:t>
            </a:r>
            <a:r>
              <a:rPr lang="en-US" noProof="0">
                <a:ea typeface="+mn-lt"/>
                <a:cs typeface="+mn-lt"/>
              </a:rPr>
              <a:t>older demographic </a:t>
            </a:r>
            <a:r>
              <a:rPr lang="en-US">
                <a:ea typeface="+mn-lt"/>
                <a:cs typeface="+mn-lt"/>
              </a:rPr>
              <a:t>distribution</a:t>
            </a:r>
            <a:r>
              <a:rPr lang="en-US" noProof="0">
                <a:ea typeface="+mn-lt"/>
                <a:cs typeface="+mn-lt"/>
              </a:rPr>
              <a:t>.</a:t>
            </a:r>
            <a:endParaRPr lang="tr-TR">
              <a:ea typeface="+mn-lt"/>
              <a:cs typeface="+mn-lt"/>
            </a:endParaRPr>
          </a:p>
        </p:txBody>
      </p:sp>
      <p:sp>
        <p:nvSpPr>
          <p:cNvPr id="7" name="İçerik Yer Tutucusu 2">
            <a:extLst>
              <a:ext uri="{FF2B5EF4-FFF2-40B4-BE49-F238E27FC236}">
                <a16:creationId xmlns:a16="http://schemas.microsoft.com/office/drawing/2014/main" id="{6073DD01-92E4-BE6F-D9FE-F4F4EAEA7B44}"/>
              </a:ext>
            </a:extLst>
          </p:cNvPr>
          <p:cNvSpPr txBox="1">
            <a:spLocks/>
          </p:cNvSpPr>
          <p:nvPr/>
        </p:nvSpPr>
        <p:spPr>
          <a:xfrm>
            <a:off x="8740587" y="2367092"/>
            <a:ext cx="3913406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318133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F020CE-D0AD-7F9C-DFA4-6BAF3CF06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61210F8D-F7F2-47FC-91CB-247E361A59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0CAF0FCF-E411-F7D9-7C9E-17FFCB7A40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846" y="618518"/>
            <a:ext cx="5211770" cy="5172682"/>
          </a:xfrm>
          <a:prstGeom prst="roundRect">
            <a:avLst>
              <a:gd name="adj" fmla="val 5301"/>
            </a:avLst>
          </a:prstGeom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41509D60-00A2-43CB-85EE-55A4E714B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Başlık 1">
            <a:extLst>
              <a:ext uri="{FF2B5EF4-FFF2-40B4-BE49-F238E27FC236}">
                <a16:creationId xmlns:a16="http://schemas.microsoft.com/office/drawing/2014/main" id="{E445F701-5A24-AD3D-8C7B-AD8E2080D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7733" y="618517"/>
            <a:ext cx="4860494" cy="1596177"/>
          </a:xfrm>
        </p:spPr>
        <p:txBody>
          <a:bodyPr>
            <a:normAutofit/>
          </a:bodyPr>
          <a:lstStyle/>
          <a:p>
            <a:r>
              <a:rPr lang="en-US" noProof="0" dirty="0"/>
              <a:t>Exploratory Data Analysis:</a:t>
            </a:r>
            <a:br>
              <a:rPr lang="en-US" dirty="0"/>
            </a:br>
            <a:r>
              <a:rPr lang="en-US" dirty="0"/>
              <a:t>Age / Max Heart Rate</a:t>
            </a:r>
            <a:endParaRPr lang="en-US" noProof="0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00AE0A7-B048-CD8B-AEF1-8C519643B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7399" y="2594919"/>
            <a:ext cx="4860201" cy="319628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buClr>
                <a:srgbClr val="000000"/>
              </a:buClr>
            </a:pPr>
            <a:r>
              <a:rPr lang="en-US" sz="1800">
                <a:ea typeface="+mn-lt"/>
                <a:cs typeface="+mn-lt"/>
              </a:rPr>
              <a:t>The analysis of </a:t>
            </a:r>
            <a:r>
              <a:rPr lang="en-US" sz="1800" noProof="0">
                <a:ea typeface="+mn-lt"/>
                <a:cs typeface="+mn-lt"/>
              </a:rPr>
              <a:t>the </a:t>
            </a:r>
            <a:r>
              <a:rPr lang="en-US" sz="1800">
                <a:ea typeface="+mn-lt"/>
                <a:cs typeface="+mn-lt"/>
              </a:rPr>
              <a:t>connection </a:t>
            </a:r>
            <a:r>
              <a:rPr lang="en-US" sz="1800" noProof="0">
                <a:ea typeface="+mn-lt"/>
                <a:cs typeface="+mn-lt"/>
              </a:rPr>
              <a:t>between age and maximum heart rate</a:t>
            </a:r>
            <a:r>
              <a:rPr lang="en-US" sz="1800">
                <a:ea typeface="+mn-lt"/>
                <a:cs typeface="+mn-lt"/>
              </a:rPr>
              <a:t> was accomplished through the usage of regression lines and a scatterplot</a:t>
            </a:r>
            <a:r>
              <a:rPr lang="en-US" sz="1800" noProof="0">
                <a:ea typeface="+mn-lt"/>
                <a:cs typeface="+mn-lt"/>
              </a:rPr>
              <a:t>. </a:t>
            </a:r>
            <a:r>
              <a:rPr lang="en-US" sz="1800">
                <a:ea typeface="+mn-lt"/>
                <a:cs typeface="+mn-lt"/>
              </a:rPr>
              <a:t>The </a:t>
            </a:r>
            <a:r>
              <a:rPr lang="en-US" sz="1800" noProof="0">
                <a:ea typeface="+mn-lt"/>
                <a:cs typeface="+mn-lt"/>
              </a:rPr>
              <a:t>downward </a:t>
            </a:r>
            <a:r>
              <a:rPr lang="en-US" sz="1800">
                <a:ea typeface="+mn-lt"/>
                <a:cs typeface="+mn-lt"/>
              </a:rPr>
              <a:t>direction of the slope of the regression lines provides evidence </a:t>
            </a:r>
            <a:r>
              <a:rPr lang="en-US" sz="1800" noProof="0">
                <a:ea typeface="+mn-lt"/>
                <a:cs typeface="+mn-lt"/>
              </a:rPr>
              <a:t>that </a:t>
            </a:r>
            <a:r>
              <a:rPr lang="en-US" sz="1800">
                <a:ea typeface="+mn-lt"/>
                <a:cs typeface="+mn-lt"/>
              </a:rPr>
              <a:t>the </a:t>
            </a:r>
            <a:r>
              <a:rPr lang="en-US" sz="1800" noProof="0">
                <a:ea typeface="+mn-lt"/>
                <a:cs typeface="+mn-lt"/>
              </a:rPr>
              <a:t>maximum heart rate </a:t>
            </a:r>
            <a:r>
              <a:rPr lang="en-US" sz="1800">
                <a:ea typeface="+mn-lt"/>
                <a:cs typeface="+mn-lt"/>
              </a:rPr>
              <a:t>on the whole decreases </a:t>
            </a:r>
            <a:r>
              <a:rPr lang="en-US" sz="1800" noProof="0">
                <a:ea typeface="+mn-lt"/>
                <a:cs typeface="+mn-lt"/>
              </a:rPr>
              <a:t>as </a:t>
            </a:r>
            <a:r>
              <a:rPr lang="en-US" sz="1800">
                <a:ea typeface="+mn-lt"/>
                <a:cs typeface="+mn-lt"/>
              </a:rPr>
              <a:t>the age of the </a:t>
            </a:r>
            <a:r>
              <a:rPr lang="en-US" sz="1800" noProof="0">
                <a:ea typeface="+mn-lt"/>
                <a:cs typeface="+mn-lt"/>
              </a:rPr>
              <a:t>patient increases across </a:t>
            </a:r>
            <a:r>
              <a:rPr lang="en-US" sz="1800">
                <a:ea typeface="+mn-lt"/>
                <a:cs typeface="+mn-lt"/>
              </a:rPr>
              <a:t>diagnostic</a:t>
            </a:r>
            <a:r>
              <a:rPr lang="en-US" sz="1800" noProof="0">
                <a:ea typeface="+mn-lt"/>
                <a:cs typeface="+mn-lt"/>
              </a:rPr>
              <a:t> groups.</a:t>
            </a:r>
            <a:endParaRPr lang="tr-TR">
              <a:ea typeface="+mn-lt"/>
              <a:cs typeface="+mn-lt"/>
            </a:endParaRPr>
          </a:p>
        </p:txBody>
      </p:sp>
      <p:sp>
        <p:nvSpPr>
          <p:cNvPr id="7" name="İçerik Yer Tutucusu 2">
            <a:extLst>
              <a:ext uri="{FF2B5EF4-FFF2-40B4-BE49-F238E27FC236}">
                <a16:creationId xmlns:a16="http://schemas.microsoft.com/office/drawing/2014/main" id="{ABD39B68-CB94-A062-060A-D53045AD18C7}"/>
              </a:ext>
            </a:extLst>
          </p:cNvPr>
          <p:cNvSpPr txBox="1">
            <a:spLocks/>
          </p:cNvSpPr>
          <p:nvPr/>
        </p:nvSpPr>
        <p:spPr>
          <a:xfrm>
            <a:off x="8740587" y="2367092"/>
            <a:ext cx="3913406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3393135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96CB86-5255-E682-A1CC-6EFBC36C9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8" name="Rectangle 57">
            <a:extLst>
              <a:ext uri="{FF2B5EF4-FFF2-40B4-BE49-F238E27FC236}">
                <a16:creationId xmlns:a16="http://schemas.microsoft.com/office/drawing/2014/main" id="{D20EF05B-48CD-41DE-82FE-C25A5A300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ounded Rectangle 12">
            <a:extLst>
              <a:ext uri="{FF2B5EF4-FFF2-40B4-BE49-F238E27FC236}">
                <a16:creationId xmlns:a16="http://schemas.microsoft.com/office/drawing/2014/main" id="{C9DFF8EB-B522-4773-B8CF-C10622C1FA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81991" y="887150"/>
            <a:ext cx="4104281" cy="4940394"/>
          </a:xfrm>
          <a:prstGeom prst="roundRect">
            <a:avLst>
              <a:gd name="adj" fmla="val 4448"/>
            </a:avLst>
          </a:prstGeom>
          <a:solidFill>
            <a:srgbClr val="FFFFFF"/>
          </a:solidFill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None/>
            </a:pPr>
            <a:endParaRPr lang="en-US" sz="3200" cap="all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CED6D74B-D0BD-D406-091D-B3AC018D78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51" r="15946" b="4"/>
          <a:stretch>
            <a:fillRect/>
          </a:stretch>
        </p:blipFill>
        <p:spPr>
          <a:xfrm>
            <a:off x="7756448" y="1349992"/>
            <a:ext cx="3155366" cy="401471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6EA99E25-F57B-4182-929C-D5A100153A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Başlık 1">
            <a:extLst>
              <a:ext uri="{FF2B5EF4-FFF2-40B4-BE49-F238E27FC236}">
                <a16:creationId xmlns:a16="http://schemas.microsoft.com/office/drawing/2014/main" id="{D1969C20-1DEB-A0CD-5DC5-90B64424F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6" y="618517"/>
            <a:ext cx="5910272" cy="1596177"/>
          </a:xfrm>
        </p:spPr>
        <p:txBody>
          <a:bodyPr>
            <a:normAutofit/>
          </a:bodyPr>
          <a:lstStyle/>
          <a:p>
            <a:r>
              <a:rPr lang="en-US" noProof="0" dirty="0"/>
              <a:t>Exploratory Data Analysis:</a:t>
            </a:r>
            <a:br>
              <a:rPr lang="en-US" dirty="0"/>
            </a:br>
            <a:r>
              <a:rPr lang="en-US" dirty="0"/>
              <a:t>GENDER / Target</a:t>
            </a:r>
            <a:endParaRPr lang="en-US" noProof="0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1BE8094-5A88-82DB-03A9-F5A908E08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5" y="2582562"/>
            <a:ext cx="5910274" cy="320863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Clr>
                <a:srgbClr val="000000"/>
              </a:buClr>
            </a:pPr>
            <a:r>
              <a:rPr lang="en-US">
                <a:ea typeface="+mn-lt"/>
                <a:cs typeface="+mn-lt"/>
              </a:rPr>
              <a:t>Using a </a:t>
            </a:r>
            <a:r>
              <a:rPr lang="en-US" noProof="0">
                <a:ea typeface="+mn-lt"/>
                <a:cs typeface="+mn-lt"/>
              </a:rPr>
              <a:t>proportional bar </a:t>
            </a:r>
            <a:r>
              <a:rPr lang="en-US">
                <a:ea typeface="+mn-lt"/>
                <a:cs typeface="+mn-lt"/>
              </a:rPr>
              <a:t>graph </a:t>
            </a:r>
            <a:r>
              <a:rPr lang="en-US" noProof="0">
                <a:ea typeface="+mn-lt"/>
                <a:cs typeface="+mn-lt"/>
              </a:rPr>
              <a:t>to </a:t>
            </a:r>
            <a:r>
              <a:rPr lang="en-US">
                <a:ea typeface="+mn-lt"/>
                <a:cs typeface="+mn-lt"/>
              </a:rPr>
              <a:t>display </a:t>
            </a:r>
            <a:r>
              <a:rPr lang="en-US" noProof="0">
                <a:ea typeface="+mn-lt"/>
                <a:cs typeface="+mn-lt"/>
              </a:rPr>
              <a:t>heart disease prevalence </a:t>
            </a:r>
            <a:r>
              <a:rPr lang="en-US">
                <a:ea typeface="+mn-lt"/>
                <a:cs typeface="+mn-lt"/>
              </a:rPr>
              <a:t>based on gender shows that females in </a:t>
            </a:r>
            <a:r>
              <a:rPr lang="en-US" noProof="0">
                <a:ea typeface="+mn-lt"/>
                <a:cs typeface="+mn-lt"/>
              </a:rPr>
              <a:t>this </a:t>
            </a:r>
            <a:r>
              <a:rPr lang="en-US">
                <a:ea typeface="+mn-lt"/>
                <a:cs typeface="+mn-lt"/>
              </a:rPr>
              <a:t>sample have </a:t>
            </a:r>
            <a:r>
              <a:rPr lang="en-US" noProof="0">
                <a:ea typeface="+mn-lt"/>
                <a:cs typeface="+mn-lt"/>
              </a:rPr>
              <a:t>a </a:t>
            </a:r>
            <a:r>
              <a:rPr lang="en-US">
                <a:ea typeface="+mn-lt"/>
                <a:cs typeface="+mn-lt"/>
              </a:rPr>
              <a:t>noticeably </a:t>
            </a:r>
            <a:r>
              <a:rPr lang="en-US" noProof="0">
                <a:ea typeface="+mn-lt"/>
                <a:cs typeface="+mn-lt"/>
              </a:rPr>
              <a:t>higher </a:t>
            </a:r>
            <a:r>
              <a:rPr lang="en-US">
                <a:ea typeface="+mn-lt"/>
                <a:cs typeface="+mn-lt"/>
              </a:rPr>
              <a:t>rate </a:t>
            </a:r>
            <a:r>
              <a:rPr lang="en-US" noProof="0">
                <a:ea typeface="+mn-lt"/>
                <a:cs typeface="+mn-lt"/>
              </a:rPr>
              <a:t>of </a:t>
            </a:r>
            <a:r>
              <a:rPr lang="en-US">
                <a:ea typeface="+mn-lt"/>
                <a:cs typeface="+mn-lt"/>
              </a:rPr>
              <a:t>having been diagnosed </a:t>
            </a:r>
            <a:r>
              <a:rPr lang="en-US" noProof="0">
                <a:ea typeface="+mn-lt"/>
                <a:cs typeface="+mn-lt"/>
              </a:rPr>
              <a:t>with heart disease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noProof="0">
                <a:ea typeface="+mn-lt"/>
                <a:cs typeface="+mn-lt"/>
              </a:rPr>
              <a:t>compared to </a:t>
            </a:r>
            <a:r>
              <a:rPr lang="en-US">
                <a:ea typeface="+mn-lt"/>
                <a:cs typeface="+mn-lt"/>
              </a:rPr>
              <a:t>their </a:t>
            </a:r>
            <a:r>
              <a:rPr lang="en-US" noProof="0">
                <a:ea typeface="+mn-lt"/>
                <a:cs typeface="+mn-lt"/>
              </a:rPr>
              <a:t>male </a:t>
            </a:r>
            <a:r>
              <a:rPr lang="en-US">
                <a:ea typeface="+mn-lt"/>
                <a:cs typeface="+mn-lt"/>
              </a:rPr>
              <a:t>counterparts</a:t>
            </a:r>
            <a:r>
              <a:rPr lang="en-US" noProof="0">
                <a:ea typeface="+mn-lt"/>
                <a:cs typeface="+mn-lt"/>
              </a:rPr>
              <a:t>.</a:t>
            </a:r>
            <a:endParaRPr lang="tr-TR">
              <a:ea typeface="+mn-lt"/>
              <a:cs typeface="+mn-lt"/>
            </a:endParaRPr>
          </a:p>
        </p:txBody>
      </p:sp>
      <p:sp>
        <p:nvSpPr>
          <p:cNvPr id="7" name="İçerik Yer Tutucusu 2">
            <a:extLst>
              <a:ext uri="{FF2B5EF4-FFF2-40B4-BE49-F238E27FC236}">
                <a16:creationId xmlns:a16="http://schemas.microsoft.com/office/drawing/2014/main" id="{3315835E-F04D-21EE-C14E-C2241CEE9B58}"/>
              </a:ext>
            </a:extLst>
          </p:cNvPr>
          <p:cNvSpPr txBox="1">
            <a:spLocks/>
          </p:cNvSpPr>
          <p:nvPr/>
        </p:nvSpPr>
        <p:spPr>
          <a:xfrm>
            <a:off x="8740587" y="2367092"/>
            <a:ext cx="3913406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2388078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6F39E8-0190-49B7-441A-B694DF33C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66">
            <a:extLst>
              <a:ext uri="{FF2B5EF4-FFF2-40B4-BE49-F238E27FC236}">
                <a16:creationId xmlns:a16="http://schemas.microsoft.com/office/drawing/2014/main" id="{61210F8D-F7F2-47FC-91CB-247E361A59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129BC276-BCFE-3012-ADF7-89F63930E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846" y="618518"/>
            <a:ext cx="5211770" cy="5172682"/>
          </a:xfrm>
          <a:prstGeom prst="roundRect">
            <a:avLst>
              <a:gd name="adj" fmla="val 5301"/>
            </a:avLst>
          </a:prstGeom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72" name="Picture 68">
            <a:extLst>
              <a:ext uri="{FF2B5EF4-FFF2-40B4-BE49-F238E27FC236}">
                <a16:creationId xmlns:a16="http://schemas.microsoft.com/office/drawing/2014/main" id="{41509D60-00A2-43CB-85EE-55A4E714B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Başlık 1">
            <a:extLst>
              <a:ext uri="{FF2B5EF4-FFF2-40B4-BE49-F238E27FC236}">
                <a16:creationId xmlns:a16="http://schemas.microsoft.com/office/drawing/2014/main" id="{91BBE9FD-4435-7AC0-7CC5-02AFDE278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7733" y="618517"/>
            <a:ext cx="4860494" cy="1596177"/>
          </a:xfrm>
        </p:spPr>
        <p:txBody>
          <a:bodyPr>
            <a:normAutofit/>
          </a:bodyPr>
          <a:lstStyle/>
          <a:p>
            <a:r>
              <a:rPr lang="en-US" sz="3100" noProof="0"/>
              <a:t>Exploratory Data Analysis:</a:t>
            </a:r>
            <a:br>
              <a:rPr lang="en-US" sz="3100"/>
            </a:br>
            <a:r>
              <a:rPr lang="en-US" sz="3100"/>
              <a:t>Chest Pain Type / Target</a:t>
            </a:r>
            <a:endParaRPr lang="en-US" sz="3100" noProof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2259F25-5511-228B-D570-28EBE7F14D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7399" y="2533135"/>
            <a:ext cx="4860201" cy="325806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Clr>
                <a:srgbClr val="000000"/>
              </a:buClr>
            </a:pPr>
            <a:r>
              <a:rPr lang="en-US" sz="1800">
                <a:ea typeface="+mn-lt"/>
                <a:cs typeface="+mn-lt"/>
              </a:rPr>
              <a:t>A stacked </a:t>
            </a:r>
            <a:r>
              <a:rPr lang="en-US" sz="1800" noProof="0">
                <a:ea typeface="+mn-lt"/>
                <a:cs typeface="+mn-lt"/>
              </a:rPr>
              <a:t>bar </a:t>
            </a:r>
            <a:r>
              <a:rPr lang="en-US" sz="1800">
                <a:ea typeface="+mn-lt"/>
                <a:cs typeface="+mn-lt"/>
              </a:rPr>
              <a:t>graph was created </a:t>
            </a:r>
            <a:r>
              <a:rPr lang="en-US" sz="1800" noProof="0">
                <a:ea typeface="+mn-lt"/>
                <a:cs typeface="+mn-lt"/>
              </a:rPr>
              <a:t>to </a:t>
            </a:r>
            <a:r>
              <a:rPr lang="en-US" sz="1800">
                <a:ea typeface="+mn-lt"/>
                <a:cs typeface="+mn-lt"/>
              </a:rPr>
              <a:t>assess the ratios of different provides of chest discomfort. The data clearly shows that types 1, 2, and 3 have a much higher degree of association with a positive </a:t>
            </a:r>
            <a:r>
              <a:rPr lang="en-US" sz="1800" noProof="0">
                <a:ea typeface="+mn-lt"/>
                <a:cs typeface="+mn-lt"/>
              </a:rPr>
              <a:t>heart disease</a:t>
            </a:r>
            <a:r>
              <a:rPr lang="en-US" sz="1800">
                <a:ea typeface="+mn-lt"/>
                <a:cs typeface="+mn-lt"/>
              </a:rPr>
              <a:t> diagnosis than an asymptomatic type (0).</a:t>
            </a:r>
            <a:endParaRPr lang="tr-TR"/>
          </a:p>
        </p:txBody>
      </p:sp>
      <p:sp>
        <p:nvSpPr>
          <p:cNvPr id="7" name="İçerik Yer Tutucusu 2">
            <a:extLst>
              <a:ext uri="{FF2B5EF4-FFF2-40B4-BE49-F238E27FC236}">
                <a16:creationId xmlns:a16="http://schemas.microsoft.com/office/drawing/2014/main" id="{256F50FF-2763-8248-42F7-B512A4499CF7}"/>
              </a:ext>
            </a:extLst>
          </p:cNvPr>
          <p:cNvSpPr txBox="1">
            <a:spLocks/>
          </p:cNvSpPr>
          <p:nvPr/>
        </p:nvSpPr>
        <p:spPr>
          <a:xfrm>
            <a:off x="8740587" y="2367092"/>
            <a:ext cx="3913406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72138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A97921-ED35-634C-A9F7-33C29F614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D2CA358-2EA6-49C2-AAEF-0C79C1F76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AAD74829-8970-4A28-B5F6-387E0E313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976ACB9-C2D4-45C2-924A-2CF7CFF51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"/>
            <a:ext cx="12192000" cy="6858000"/>
          </a:xfrm>
          <a:prstGeom prst="rect">
            <a:avLst/>
          </a:prstGeom>
        </p:spPr>
      </p:pic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478B0BA-076B-0D5A-577B-00CEFE8F1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065" y="2367092"/>
            <a:ext cx="5855415" cy="384744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400" dirty="0">
                <a:ea typeface="+mn-lt"/>
                <a:cs typeface="+mn-lt"/>
              </a:rPr>
              <a:t>To </a:t>
            </a:r>
            <a:r>
              <a:rPr lang="en-US" sz="1400" noProof="0" dirty="0">
                <a:ea typeface="+mn-lt"/>
                <a:cs typeface="+mn-lt"/>
              </a:rPr>
              <a:t>identify </a:t>
            </a:r>
            <a:r>
              <a:rPr lang="en-US" sz="1400" dirty="0">
                <a:ea typeface="+mn-lt"/>
                <a:cs typeface="+mn-lt"/>
              </a:rPr>
              <a:t>possible </a:t>
            </a:r>
            <a:r>
              <a:rPr lang="en-US" sz="1400" noProof="0" dirty="0">
                <a:ea typeface="+mn-lt"/>
                <a:cs typeface="+mn-lt"/>
              </a:rPr>
              <a:t>natural patient segments</a:t>
            </a:r>
            <a:r>
              <a:rPr lang="en-US" sz="1400" dirty="0">
                <a:ea typeface="+mn-lt"/>
                <a:cs typeface="+mn-lt"/>
              </a:rPr>
              <a:t>, K-Mean</a:t>
            </a:r>
            <a:r>
              <a:rPr lang="en-US" sz="1400" noProof="0" dirty="0">
                <a:ea typeface="+mn-lt"/>
                <a:cs typeface="+mn-lt"/>
              </a:rPr>
              <a:t> clustering</a:t>
            </a:r>
            <a:r>
              <a:rPr lang="en-US" sz="1400" dirty="0">
                <a:ea typeface="+mn-lt"/>
                <a:cs typeface="+mn-lt"/>
              </a:rPr>
              <a:t> with </a:t>
            </a:r>
            <a:r>
              <a:rPr lang="en-US" sz="1400" noProof="0" dirty="0">
                <a:ea typeface="+mn-lt"/>
                <a:cs typeface="+mn-lt"/>
              </a:rPr>
              <a:t>1 </a:t>
            </a:r>
            <a:r>
              <a:rPr lang="en-US" sz="1400" dirty="0">
                <a:ea typeface="+mn-lt"/>
                <a:cs typeface="+mn-lt"/>
              </a:rPr>
              <a:t>through </a:t>
            </a:r>
            <a:r>
              <a:rPr lang="en-US" sz="1400" noProof="0" dirty="0">
                <a:ea typeface="+mn-lt"/>
                <a:cs typeface="+mn-lt"/>
              </a:rPr>
              <a:t>15 clusters </a:t>
            </a:r>
            <a:r>
              <a:rPr lang="en-US" sz="1400" dirty="0">
                <a:ea typeface="+mn-lt"/>
                <a:cs typeface="+mn-lt"/>
              </a:rPr>
              <a:t>of only </a:t>
            </a:r>
            <a:r>
              <a:rPr lang="en-US" sz="1400" noProof="0" dirty="0">
                <a:ea typeface="+mn-lt"/>
                <a:cs typeface="+mn-lt"/>
              </a:rPr>
              <a:t>the scaled numeric features</a:t>
            </a:r>
            <a:r>
              <a:rPr lang="en-US" sz="1400" dirty="0">
                <a:ea typeface="+mn-lt"/>
                <a:cs typeface="+mn-lt"/>
              </a:rPr>
              <a:t> was completed in an unsupervised manner</a:t>
            </a:r>
            <a:r>
              <a:rPr lang="en-US" sz="1400" noProof="0" dirty="0">
                <a:ea typeface="+mn-lt"/>
                <a:cs typeface="+mn-lt"/>
              </a:rPr>
              <a:t>. </a:t>
            </a:r>
            <a:r>
              <a:rPr lang="en-US" sz="1400" dirty="0">
                <a:ea typeface="+mn-lt"/>
                <a:cs typeface="+mn-lt"/>
              </a:rPr>
              <a:t>The </a:t>
            </a:r>
            <a:r>
              <a:rPr lang="en-US" sz="1400" noProof="0" dirty="0">
                <a:ea typeface="+mn-lt"/>
                <a:cs typeface="+mn-lt"/>
              </a:rPr>
              <a:t>Elbow </a:t>
            </a:r>
            <a:r>
              <a:rPr lang="en-US" sz="1400" dirty="0">
                <a:ea typeface="+mn-lt"/>
                <a:cs typeface="+mn-lt"/>
              </a:rPr>
              <a:t>method </a:t>
            </a:r>
            <a:r>
              <a:rPr lang="en-US" sz="1400" noProof="0" dirty="0">
                <a:ea typeface="+mn-lt"/>
                <a:cs typeface="+mn-lt"/>
              </a:rPr>
              <a:t>(</a:t>
            </a:r>
            <a:r>
              <a:rPr lang="en-US" sz="1400" dirty="0">
                <a:ea typeface="+mn-lt"/>
                <a:cs typeface="+mn-lt"/>
              </a:rPr>
              <a:t>looking at the </a:t>
            </a:r>
            <a:r>
              <a:rPr lang="en-US" sz="1400" noProof="0" dirty="0">
                <a:ea typeface="+mn-lt"/>
                <a:cs typeface="+mn-lt"/>
              </a:rPr>
              <a:t>Total </a:t>
            </a:r>
            <a:r>
              <a:rPr lang="en-US" sz="1400" dirty="0">
                <a:ea typeface="+mn-lt"/>
                <a:cs typeface="+mn-lt"/>
              </a:rPr>
              <a:t>With-In Cluster </a:t>
            </a:r>
            <a:r>
              <a:rPr lang="en-US" sz="1400" noProof="0" dirty="0">
                <a:ea typeface="+mn-lt"/>
                <a:cs typeface="+mn-lt"/>
              </a:rPr>
              <a:t>Sum of Squares) and Silhouette Scores were </a:t>
            </a:r>
            <a:r>
              <a:rPr lang="en-US" sz="1400" dirty="0">
                <a:ea typeface="+mn-lt"/>
                <a:cs typeface="+mn-lt"/>
              </a:rPr>
              <a:t>used to evaluate the optimal number of groupings</a:t>
            </a:r>
            <a:r>
              <a:rPr lang="en-US" sz="1400" noProof="0" dirty="0">
                <a:ea typeface="+mn-lt"/>
                <a:cs typeface="+mn-lt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en-US" sz="1400" noProof="0">
                <a:ea typeface="+mn-lt"/>
                <a:cs typeface="+mn-lt"/>
              </a:rPr>
              <a:t>K=2</a:t>
            </a:r>
            <a:r>
              <a:rPr lang="en-US" sz="1400">
                <a:ea typeface="+mn-lt"/>
                <a:cs typeface="+mn-lt"/>
              </a:rPr>
              <a:t> yielded the highest silhouette score observed for the data set; however</a:t>
            </a:r>
            <a:r>
              <a:rPr lang="en-US" sz="1400" noProof="0">
                <a:ea typeface="+mn-lt"/>
                <a:cs typeface="+mn-lt"/>
              </a:rPr>
              <a:t>, </a:t>
            </a:r>
            <a:r>
              <a:rPr lang="en-US" sz="1400">
                <a:ea typeface="+mn-lt"/>
                <a:cs typeface="+mn-lt"/>
              </a:rPr>
              <a:t>this </a:t>
            </a:r>
            <a:r>
              <a:rPr lang="en-US" sz="1400" noProof="0">
                <a:ea typeface="+mn-lt"/>
                <a:cs typeface="+mn-lt"/>
              </a:rPr>
              <a:t>was </a:t>
            </a:r>
            <a:r>
              <a:rPr lang="en-US" sz="1400">
                <a:ea typeface="+mn-lt"/>
                <a:cs typeface="+mn-lt"/>
              </a:rPr>
              <a:t>still relatively </a:t>
            </a:r>
            <a:r>
              <a:rPr lang="en-US" sz="1400" noProof="0">
                <a:ea typeface="+mn-lt"/>
                <a:cs typeface="+mn-lt"/>
              </a:rPr>
              <a:t>low (</a:t>
            </a:r>
            <a:r>
              <a:rPr lang="en-US" sz="1400">
                <a:ea typeface="+mn-lt"/>
                <a:cs typeface="+mn-lt"/>
              </a:rPr>
              <a:t>about </a:t>
            </a:r>
            <a:r>
              <a:rPr lang="en-US" sz="1400" noProof="0">
                <a:ea typeface="+mn-lt"/>
                <a:cs typeface="+mn-lt"/>
              </a:rPr>
              <a:t>0.24). </a:t>
            </a:r>
            <a:r>
              <a:rPr lang="en-US" sz="1400">
                <a:ea typeface="+mn-lt"/>
                <a:cs typeface="+mn-lt"/>
              </a:rPr>
              <a:t>An individual silhouette </a:t>
            </a:r>
            <a:r>
              <a:rPr lang="en-US" sz="1400" noProof="0">
                <a:ea typeface="+mn-lt"/>
                <a:cs typeface="+mn-lt"/>
              </a:rPr>
              <a:t>score </a:t>
            </a:r>
            <a:r>
              <a:rPr lang="en-US" sz="1400">
                <a:ea typeface="+mn-lt"/>
                <a:cs typeface="+mn-lt"/>
              </a:rPr>
              <a:t>of &lt; </a:t>
            </a:r>
            <a:r>
              <a:rPr lang="en-US" sz="1400" noProof="0">
                <a:ea typeface="+mn-lt"/>
                <a:cs typeface="+mn-lt"/>
              </a:rPr>
              <a:t>0.25 </a:t>
            </a:r>
            <a:r>
              <a:rPr lang="en-US" sz="1400">
                <a:ea typeface="+mn-lt"/>
                <a:cs typeface="+mn-lt"/>
              </a:rPr>
              <a:t>typically </a:t>
            </a:r>
            <a:r>
              <a:rPr lang="en-US" sz="1400" noProof="0">
                <a:ea typeface="+mn-lt"/>
                <a:cs typeface="+mn-lt"/>
              </a:rPr>
              <a:t>indicates </a:t>
            </a:r>
            <a:r>
              <a:rPr lang="en-US" sz="1400">
                <a:ea typeface="+mn-lt"/>
                <a:cs typeface="+mn-lt"/>
              </a:rPr>
              <a:t>that clusters of individuals are likely to be </a:t>
            </a:r>
            <a:r>
              <a:rPr lang="en-US" sz="1400" noProof="0">
                <a:ea typeface="+mn-lt"/>
                <a:cs typeface="+mn-lt"/>
              </a:rPr>
              <a:t>overlapping </a:t>
            </a:r>
            <a:r>
              <a:rPr lang="en-US" sz="1400">
                <a:ea typeface="+mn-lt"/>
                <a:cs typeface="+mn-lt"/>
              </a:rPr>
              <a:t>or the members of both </a:t>
            </a:r>
            <a:r>
              <a:rPr lang="en-US" sz="1400" noProof="0">
                <a:ea typeface="+mn-lt"/>
                <a:cs typeface="+mn-lt"/>
              </a:rPr>
              <a:t>clusters</a:t>
            </a:r>
            <a:r>
              <a:rPr lang="en-US" sz="1400">
                <a:ea typeface="+mn-lt"/>
                <a:cs typeface="+mn-lt"/>
              </a:rPr>
              <a:t> are likely indistinguishable. Therefore</a:t>
            </a:r>
            <a:r>
              <a:rPr lang="en-US" sz="1400" noProof="0">
                <a:ea typeface="+mn-lt"/>
                <a:cs typeface="+mn-lt"/>
              </a:rPr>
              <a:t>, clinical cardiovascular data </a:t>
            </a:r>
            <a:r>
              <a:rPr lang="en-US" sz="1400">
                <a:ea typeface="+mn-lt"/>
                <a:cs typeface="+mn-lt"/>
              </a:rPr>
              <a:t>exist </a:t>
            </a:r>
            <a:r>
              <a:rPr lang="en-US" sz="1400" noProof="0">
                <a:ea typeface="+mn-lt"/>
                <a:cs typeface="+mn-lt"/>
              </a:rPr>
              <a:t>on a </a:t>
            </a:r>
            <a:r>
              <a:rPr lang="en-US" sz="1400">
                <a:ea typeface="+mn-lt"/>
                <a:cs typeface="+mn-lt"/>
              </a:rPr>
              <a:t>continuum in terms of health, suggesting that </a:t>
            </a:r>
            <a:r>
              <a:rPr lang="en-US" sz="1400" noProof="0">
                <a:ea typeface="+mn-lt"/>
                <a:cs typeface="+mn-lt"/>
              </a:rPr>
              <a:t>healthy and </a:t>
            </a:r>
            <a:r>
              <a:rPr lang="en-US" sz="1400">
                <a:ea typeface="+mn-lt"/>
                <a:cs typeface="+mn-lt"/>
              </a:rPr>
              <a:t>ill </a:t>
            </a:r>
            <a:r>
              <a:rPr lang="en-US" sz="1400" noProof="0">
                <a:ea typeface="+mn-lt"/>
                <a:cs typeface="+mn-lt"/>
              </a:rPr>
              <a:t>patients </a:t>
            </a:r>
            <a:r>
              <a:rPr lang="en-US" sz="1400">
                <a:ea typeface="+mn-lt"/>
                <a:cs typeface="+mn-lt"/>
              </a:rPr>
              <a:t>have many </a:t>
            </a:r>
            <a:r>
              <a:rPr lang="en-US" sz="1400" noProof="0">
                <a:ea typeface="+mn-lt"/>
                <a:cs typeface="+mn-lt"/>
              </a:rPr>
              <a:t>similar physiological </a:t>
            </a:r>
            <a:r>
              <a:rPr lang="en-US" sz="1400">
                <a:ea typeface="+mn-lt"/>
                <a:cs typeface="+mn-lt"/>
              </a:rPr>
              <a:t>parameters</a:t>
            </a:r>
            <a:r>
              <a:rPr lang="en-US" sz="1400" noProof="0">
                <a:ea typeface="+mn-lt"/>
                <a:cs typeface="+mn-lt"/>
              </a:rPr>
              <a:t>.</a:t>
            </a:r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B98E6E3D-C05D-C1FE-D104-1609D21E8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4064" y="618517"/>
            <a:ext cx="5855416" cy="1596177"/>
          </a:xfrm>
        </p:spPr>
        <p:txBody>
          <a:bodyPr>
            <a:normAutofit/>
          </a:bodyPr>
          <a:lstStyle/>
          <a:p>
            <a:r>
              <a:rPr lang="en-US" noProof="0"/>
              <a:t>K-means Clustering</a:t>
            </a:r>
            <a:endParaRPr lang="en-US" noProof="0" dirty="0"/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3DF4FA45-F378-CC95-E461-6942489ABF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1848" y="0"/>
            <a:ext cx="3452038" cy="3426147"/>
          </a:xfrm>
          <a:prstGeom prst="rect">
            <a:avLst/>
          </a:prstGeom>
        </p:spPr>
      </p:pic>
      <p:pic>
        <p:nvPicPr>
          <p:cNvPr id="8" name="Resim 7">
            <a:extLst>
              <a:ext uri="{FF2B5EF4-FFF2-40B4-BE49-F238E27FC236}">
                <a16:creationId xmlns:a16="http://schemas.microsoft.com/office/drawing/2014/main" id="{D717BB52-DCAE-E563-24F4-FFEE99A48C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6102" y="3426147"/>
            <a:ext cx="3457783" cy="3431851"/>
          </a:xfrm>
          <a:prstGeom prst="rect">
            <a:avLst/>
          </a:prstGeom>
        </p:spPr>
      </p:pic>
      <p:sp>
        <p:nvSpPr>
          <p:cNvPr id="12" name="Metin kutusu 11">
            <a:extLst>
              <a:ext uri="{FF2B5EF4-FFF2-40B4-BE49-F238E27FC236}">
                <a16:creationId xmlns:a16="http://schemas.microsoft.com/office/drawing/2014/main" id="{1A2C701E-B920-DFF8-6400-B55829195184}"/>
              </a:ext>
            </a:extLst>
          </p:cNvPr>
          <p:cNvSpPr txBox="1"/>
          <p:nvPr/>
        </p:nvSpPr>
        <p:spPr>
          <a:xfrm rot="5400000">
            <a:off x="10268603" y="4911240"/>
            <a:ext cx="2665670" cy="461665"/>
          </a:xfrm>
          <a:prstGeom prst="rect">
            <a:avLst/>
          </a:prstGeom>
          <a:effectLst>
            <a:softEdge rad="31750"/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Silhouette Score</a:t>
            </a:r>
          </a:p>
        </p:txBody>
      </p:sp>
      <p:sp>
        <p:nvSpPr>
          <p:cNvPr id="14" name="Metin kutusu 13">
            <a:extLst>
              <a:ext uri="{FF2B5EF4-FFF2-40B4-BE49-F238E27FC236}">
                <a16:creationId xmlns:a16="http://schemas.microsoft.com/office/drawing/2014/main" id="{7044D606-48D8-FAF3-CBAF-E48EA250980F}"/>
              </a:ext>
            </a:extLst>
          </p:cNvPr>
          <p:cNvSpPr txBox="1"/>
          <p:nvPr/>
        </p:nvSpPr>
        <p:spPr>
          <a:xfrm rot="5400000">
            <a:off x="10268602" y="1486924"/>
            <a:ext cx="2665670" cy="461665"/>
          </a:xfrm>
          <a:prstGeom prst="rect">
            <a:avLst/>
          </a:prstGeom>
          <a:effectLst>
            <a:softEdge rad="31750"/>
          </a:effectLst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Elbow Method</a:t>
            </a:r>
          </a:p>
        </p:txBody>
      </p:sp>
    </p:spTree>
    <p:extLst>
      <p:ext uri="{BB962C8B-B14F-4D97-AF65-F5344CB8AC3E}">
        <p14:creationId xmlns:p14="http://schemas.microsoft.com/office/powerpoint/2010/main" val="307701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0E71B-BBE8-2733-B1B6-C28B5AFED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154D985-9800-DAB0-11C4-5F6311BE6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SVM Classification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3A92898-19B5-52DA-F367-C70111EE4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en-US" noProof="0">
                <a:ea typeface="+mn-lt"/>
                <a:cs typeface="+mn-lt"/>
              </a:rPr>
              <a:t>A SVM was </a:t>
            </a:r>
            <a:r>
              <a:rPr lang="en-US">
                <a:ea typeface="+mn-lt"/>
                <a:cs typeface="+mn-lt"/>
              </a:rPr>
              <a:t>chosen because of </a:t>
            </a:r>
            <a:r>
              <a:rPr lang="en-US" noProof="0">
                <a:ea typeface="+mn-lt"/>
                <a:cs typeface="+mn-lt"/>
              </a:rPr>
              <a:t>its </a:t>
            </a:r>
            <a:r>
              <a:rPr lang="en-US">
                <a:ea typeface="+mn-lt"/>
                <a:cs typeface="+mn-lt"/>
              </a:rPr>
              <a:t>ability to accurately classify both original datasets </a:t>
            </a:r>
            <a:r>
              <a:rPr lang="en-US" noProof="0">
                <a:ea typeface="+mn-lt"/>
                <a:cs typeface="+mn-lt"/>
              </a:rPr>
              <a:t>and </a:t>
            </a:r>
            <a:r>
              <a:rPr lang="en-US">
                <a:ea typeface="+mn-lt"/>
                <a:cs typeface="+mn-lt"/>
              </a:rPr>
              <a:t>large datasets</a:t>
            </a:r>
            <a:r>
              <a:rPr lang="en-US" noProof="0">
                <a:ea typeface="+mn-lt"/>
                <a:cs typeface="+mn-lt"/>
              </a:rPr>
              <a:t>. The </a:t>
            </a:r>
            <a:r>
              <a:rPr lang="en-US">
                <a:ea typeface="+mn-lt"/>
                <a:cs typeface="+mn-lt"/>
              </a:rPr>
              <a:t>SVM's configuration uses an </a:t>
            </a:r>
            <a:r>
              <a:rPr lang="en-US" noProof="0">
                <a:ea typeface="+mn-lt"/>
                <a:cs typeface="+mn-lt"/>
              </a:rPr>
              <a:t>RBF kernel </a:t>
            </a:r>
            <a:r>
              <a:rPr lang="en-US">
                <a:ea typeface="+mn-lt"/>
                <a:cs typeface="+mn-lt"/>
              </a:rPr>
              <a:t>and </a:t>
            </a:r>
            <a:r>
              <a:rPr lang="en-US" noProof="0">
                <a:ea typeface="+mn-lt"/>
                <a:cs typeface="+mn-lt"/>
              </a:rPr>
              <a:t>a cost </a:t>
            </a:r>
            <a:r>
              <a:rPr lang="en-US">
                <a:ea typeface="+mn-lt"/>
                <a:cs typeface="+mn-lt"/>
              </a:rPr>
              <a:t>factor of </a:t>
            </a:r>
            <a:r>
              <a:rPr lang="en-US" noProof="0">
                <a:ea typeface="+mn-lt"/>
                <a:cs typeface="+mn-lt"/>
              </a:rPr>
              <a:t>1</a:t>
            </a:r>
            <a:r>
              <a:rPr lang="en-US">
                <a:ea typeface="+mn-lt"/>
                <a:cs typeface="+mn-lt"/>
              </a:rPr>
              <a:t>; training </a:t>
            </a:r>
            <a:r>
              <a:rPr lang="en-US" noProof="0">
                <a:ea typeface="+mn-lt"/>
                <a:cs typeface="+mn-lt"/>
              </a:rPr>
              <a:t>was </a:t>
            </a:r>
            <a:r>
              <a:rPr lang="en-US">
                <a:ea typeface="+mn-lt"/>
                <a:cs typeface="+mn-lt"/>
              </a:rPr>
              <a:t>then conducted via </a:t>
            </a:r>
            <a:r>
              <a:rPr lang="en-US" noProof="0">
                <a:ea typeface="+mn-lt"/>
                <a:cs typeface="+mn-lt"/>
              </a:rPr>
              <a:t>the 80% split</a:t>
            </a:r>
            <a:r>
              <a:rPr lang="en-US">
                <a:ea typeface="+mn-lt"/>
                <a:cs typeface="+mn-lt"/>
              </a:rPr>
              <a:t> of the data</a:t>
            </a:r>
            <a:r>
              <a:rPr lang="en-US" noProof="0">
                <a:ea typeface="+mn-lt"/>
                <a:cs typeface="+mn-lt"/>
              </a:rPr>
              <a:t>, </a:t>
            </a:r>
            <a:r>
              <a:rPr lang="en-US">
                <a:ea typeface="+mn-lt"/>
                <a:cs typeface="+mn-lt"/>
              </a:rPr>
              <a:t>using </a:t>
            </a:r>
            <a:r>
              <a:rPr lang="en-US" noProof="0">
                <a:ea typeface="+mn-lt"/>
                <a:cs typeface="+mn-lt"/>
              </a:rPr>
              <a:t>the </a:t>
            </a:r>
            <a:r>
              <a:rPr lang="en-US">
                <a:ea typeface="+mn-lt"/>
                <a:cs typeface="+mn-lt"/>
              </a:rPr>
              <a:t>pre-processed/</a:t>
            </a:r>
            <a:r>
              <a:rPr lang="en-US" noProof="0">
                <a:ea typeface="+mn-lt"/>
                <a:cs typeface="+mn-lt"/>
              </a:rPr>
              <a:t>scaled clinical features </a:t>
            </a:r>
            <a:r>
              <a:rPr lang="en-US">
                <a:ea typeface="+mn-lt"/>
                <a:cs typeface="+mn-lt"/>
              </a:rPr>
              <a:t>as a basis </a:t>
            </a:r>
            <a:r>
              <a:rPr lang="en-US" noProof="0">
                <a:ea typeface="+mn-lt"/>
                <a:cs typeface="+mn-lt"/>
              </a:rPr>
              <a:t>to </a:t>
            </a:r>
            <a:r>
              <a:rPr lang="en-US">
                <a:ea typeface="+mn-lt"/>
                <a:cs typeface="+mn-lt"/>
              </a:rPr>
              <a:t>generate the most </a:t>
            </a:r>
            <a:r>
              <a:rPr lang="en-US" noProof="0">
                <a:ea typeface="+mn-lt"/>
                <a:cs typeface="+mn-lt"/>
              </a:rPr>
              <a:t>optimal </a:t>
            </a:r>
            <a:r>
              <a:rPr lang="en-US">
                <a:ea typeface="+mn-lt"/>
                <a:cs typeface="+mn-lt"/>
              </a:rPr>
              <a:t>algorithms</a:t>
            </a:r>
            <a:r>
              <a:rPr lang="en-US" noProof="0">
                <a:ea typeface="+mn-lt"/>
                <a:cs typeface="+mn-lt"/>
              </a:rPr>
              <a:t>.</a:t>
            </a:r>
          </a:p>
          <a:p>
            <a:r>
              <a:rPr lang="en-US">
                <a:ea typeface="+mn-lt"/>
                <a:cs typeface="+mn-lt"/>
              </a:rPr>
              <a:t>The </a:t>
            </a:r>
            <a:r>
              <a:rPr lang="en-US" noProof="0">
                <a:ea typeface="+mn-lt"/>
                <a:cs typeface="+mn-lt"/>
              </a:rPr>
              <a:t>confusion matrix </a:t>
            </a:r>
            <a:r>
              <a:rPr lang="en-US">
                <a:ea typeface="+mn-lt"/>
                <a:cs typeface="+mn-lt"/>
              </a:rPr>
              <a:t>shows that the model yielded a total of </a:t>
            </a:r>
            <a:r>
              <a:rPr lang="en-US" noProof="0">
                <a:ea typeface="+mn-lt"/>
                <a:cs typeface="+mn-lt"/>
              </a:rPr>
              <a:t>90 </a:t>
            </a:r>
            <a:r>
              <a:rPr lang="en-US">
                <a:ea typeface="+mn-lt"/>
                <a:cs typeface="+mn-lt"/>
              </a:rPr>
              <a:t>true positives (</a:t>
            </a:r>
            <a:r>
              <a:rPr lang="en-US" noProof="0">
                <a:ea typeface="+mn-lt"/>
                <a:cs typeface="+mn-lt"/>
              </a:rPr>
              <a:t>TP), 89 </a:t>
            </a:r>
            <a:r>
              <a:rPr lang="en-US">
                <a:ea typeface="+mn-lt"/>
                <a:cs typeface="+mn-lt"/>
              </a:rPr>
              <a:t>true negatives (</a:t>
            </a:r>
            <a:r>
              <a:rPr lang="en-US" noProof="0">
                <a:ea typeface="+mn-lt"/>
                <a:cs typeface="+mn-lt"/>
              </a:rPr>
              <a:t>TN), 11 </a:t>
            </a:r>
            <a:r>
              <a:rPr lang="en-US">
                <a:ea typeface="+mn-lt"/>
                <a:cs typeface="+mn-lt"/>
              </a:rPr>
              <a:t>false positives (</a:t>
            </a:r>
            <a:r>
              <a:rPr lang="en-US" noProof="0">
                <a:ea typeface="+mn-lt"/>
                <a:cs typeface="+mn-lt"/>
              </a:rPr>
              <a:t>FP), and 15 </a:t>
            </a:r>
            <a:r>
              <a:rPr lang="en-US">
                <a:ea typeface="+mn-lt"/>
                <a:cs typeface="+mn-lt"/>
              </a:rPr>
              <a:t>false negatives (</a:t>
            </a:r>
            <a:r>
              <a:rPr lang="en-US" noProof="0">
                <a:ea typeface="+mn-lt"/>
                <a:cs typeface="+mn-lt"/>
              </a:rPr>
              <a:t>FN</a:t>
            </a:r>
            <a:r>
              <a:rPr lang="en-US">
                <a:ea typeface="+mn-lt"/>
                <a:cs typeface="+mn-lt"/>
              </a:rPr>
              <a:t>) when tested</a:t>
            </a:r>
            <a:r>
              <a:rPr lang="en-US" noProof="0">
                <a:ea typeface="+mn-lt"/>
                <a:cs typeface="+mn-lt"/>
              </a:rPr>
              <a:t> on </a:t>
            </a:r>
            <a:r>
              <a:rPr lang="en-US">
                <a:ea typeface="+mn-lt"/>
                <a:cs typeface="+mn-lt"/>
              </a:rPr>
              <a:t>the holdout data. The precision, recall</a:t>
            </a:r>
            <a:r>
              <a:rPr lang="en-US" noProof="0">
                <a:ea typeface="+mn-lt"/>
                <a:cs typeface="+mn-lt"/>
              </a:rPr>
              <a:t>, </a:t>
            </a:r>
            <a:r>
              <a:rPr lang="en-US">
                <a:ea typeface="+mn-lt"/>
                <a:cs typeface="+mn-lt"/>
              </a:rPr>
              <a:t>and F1 score of </a:t>
            </a:r>
            <a:r>
              <a:rPr lang="en-US" noProof="0">
                <a:ea typeface="+mn-lt"/>
                <a:cs typeface="+mn-lt"/>
              </a:rPr>
              <a:t>the model </a:t>
            </a:r>
            <a:r>
              <a:rPr lang="en-US">
                <a:ea typeface="+mn-lt"/>
                <a:cs typeface="+mn-lt"/>
              </a:rPr>
              <a:t>are </a:t>
            </a:r>
            <a:r>
              <a:rPr lang="en-US" noProof="0">
                <a:ea typeface="+mn-lt"/>
                <a:cs typeface="+mn-lt"/>
              </a:rPr>
              <a:t>0.891, 0.857, and 0.874</a:t>
            </a:r>
            <a:r>
              <a:rPr lang="en-US">
                <a:ea typeface="+mn-lt"/>
                <a:cs typeface="+mn-lt"/>
              </a:rPr>
              <a:t>, respectively, based on these four values</a:t>
            </a:r>
            <a:r>
              <a:rPr lang="en-US" noProof="0">
                <a:ea typeface="+mn-lt"/>
                <a:cs typeface="+mn-lt"/>
              </a:rPr>
              <a:t>. </a:t>
            </a:r>
            <a:r>
              <a:rPr lang="en-US">
                <a:ea typeface="+mn-lt"/>
                <a:cs typeface="+mn-lt"/>
              </a:rPr>
              <a:t>The recall measure is particularly important in </a:t>
            </a:r>
            <a:r>
              <a:rPr lang="en-US" noProof="0">
                <a:ea typeface="+mn-lt"/>
                <a:cs typeface="+mn-lt"/>
              </a:rPr>
              <a:t>the context of medical </a:t>
            </a:r>
            <a:r>
              <a:rPr lang="en-US">
                <a:ea typeface="+mn-lt"/>
                <a:cs typeface="+mn-lt"/>
              </a:rPr>
              <a:t>diagnosis</a:t>
            </a:r>
            <a:r>
              <a:rPr lang="en-US" noProof="0">
                <a:ea typeface="+mn-lt"/>
                <a:cs typeface="+mn-lt"/>
              </a:rPr>
              <a:t>. </a:t>
            </a:r>
            <a:r>
              <a:rPr lang="en-US">
                <a:ea typeface="+mn-lt"/>
                <a:cs typeface="+mn-lt"/>
              </a:rPr>
              <a:t>False </a:t>
            </a:r>
            <a:r>
              <a:rPr lang="en-US" noProof="0">
                <a:ea typeface="+mn-lt"/>
                <a:cs typeface="+mn-lt"/>
              </a:rPr>
              <a:t>negatives </a:t>
            </a:r>
            <a:r>
              <a:rPr lang="en-US">
                <a:ea typeface="+mn-lt"/>
                <a:cs typeface="+mn-lt"/>
              </a:rPr>
              <a:t>can prevent </a:t>
            </a:r>
            <a:r>
              <a:rPr lang="en-US" noProof="0">
                <a:ea typeface="+mn-lt"/>
                <a:cs typeface="+mn-lt"/>
              </a:rPr>
              <a:t>patients with underlying heart disease </a:t>
            </a:r>
            <a:r>
              <a:rPr lang="en-US">
                <a:ea typeface="+mn-lt"/>
                <a:cs typeface="+mn-lt"/>
              </a:rPr>
              <a:t>from being identified </a:t>
            </a:r>
            <a:r>
              <a:rPr lang="en-US" noProof="0">
                <a:ea typeface="+mn-lt"/>
                <a:cs typeface="+mn-lt"/>
              </a:rPr>
              <a:t>and </a:t>
            </a:r>
            <a:r>
              <a:rPr lang="en-US">
                <a:ea typeface="+mn-lt"/>
                <a:cs typeface="+mn-lt"/>
              </a:rPr>
              <a:t>treated appropriately, so eliminating false negatives is critical to providing proper </a:t>
            </a:r>
            <a:r>
              <a:rPr lang="en-US" noProof="0">
                <a:ea typeface="+mn-lt"/>
                <a:cs typeface="+mn-lt"/>
              </a:rPr>
              <a:t>care</a:t>
            </a:r>
            <a:r>
              <a:rPr lang="en-US">
                <a:ea typeface="+mn-lt"/>
                <a:cs typeface="+mn-lt"/>
              </a:rPr>
              <a:t> for patients and avoiding unnecessary morbidity and mortality</a:t>
            </a:r>
            <a:r>
              <a:rPr lang="en-US" noProof="0">
                <a:ea typeface="+mn-lt"/>
                <a:cs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075465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98970-D033-B8C4-F6DC-6DF7B9368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DCE7A92-296A-F4CA-E75E-B371227BB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Conclusion &amp; Limitations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BEEA479-3D0F-C889-5638-405455F6FC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noProof="0">
                <a:ea typeface="+mn-lt"/>
                <a:cs typeface="+mn-lt"/>
              </a:rPr>
              <a:t>In </a:t>
            </a:r>
            <a:r>
              <a:rPr lang="en-US">
                <a:ea typeface="+mn-lt"/>
                <a:cs typeface="+mn-lt"/>
              </a:rPr>
              <a:t>conclusion</a:t>
            </a:r>
            <a:r>
              <a:rPr lang="en-US" noProof="0">
                <a:ea typeface="+mn-lt"/>
                <a:cs typeface="+mn-lt"/>
              </a:rPr>
              <a:t>, the clinical dataset </a:t>
            </a:r>
            <a:r>
              <a:rPr lang="en-US">
                <a:ea typeface="+mn-lt"/>
                <a:cs typeface="+mn-lt"/>
              </a:rPr>
              <a:t>has been adequately prepared for analysis and comprehensive exploration of feature-to-feature </a:t>
            </a:r>
            <a:r>
              <a:rPr lang="en-US" noProof="0">
                <a:ea typeface="+mn-lt"/>
                <a:cs typeface="+mn-lt"/>
              </a:rPr>
              <a:t>relationships </a:t>
            </a:r>
            <a:r>
              <a:rPr lang="en-US">
                <a:ea typeface="+mn-lt"/>
                <a:cs typeface="+mn-lt"/>
              </a:rPr>
              <a:t>has been completed. Two different </a:t>
            </a:r>
            <a:r>
              <a:rPr lang="en-US" noProof="0">
                <a:ea typeface="+mn-lt"/>
                <a:cs typeface="+mn-lt"/>
              </a:rPr>
              <a:t>machine learning </a:t>
            </a:r>
            <a:r>
              <a:rPr lang="en-US">
                <a:ea typeface="+mn-lt"/>
                <a:cs typeface="+mn-lt"/>
              </a:rPr>
              <a:t>techniques have been used to evaluate how well they predicted the outcome variable</a:t>
            </a:r>
            <a:r>
              <a:rPr lang="en-US" noProof="0">
                <a:ea typeface="+mn-lt"/>
                <a:cs typeface="+mn-lt"/>
              </a:rPr>
              <a:t>. </a:t>
            </a:r>
            <a:r>
              <a:rPr lang="en-US">
                <a:ea typeface="+mn-lt"/>
                <a:cs typeface="+mn-lt"/>
              </a:rPr>
              <a:t>The results confirmed </a:t>
            </a:r>
            <a:r>
              <a:rPr lang="en-US" noProof="0">
                <a:ea typeface="+mn-lt"/>
                <a:cs typeface="+mn-lt"/>
              </a:rPr>
              <a:t>that supervised learning (SVM) </a:t>
            </a:r>
            <a:r>
              <a:rPr lang="en-US">
                <a:ea typeface="+mn-lt"/>
                <a:cs typeface="+mn-lt"/>
              </a:rPr>
              <a:t>performed much better than </a:t>
            </a:r>
            <a:r>
              <a:rPr lang="en-US" noProof="0">
                <a:ea typeface="+mn-lt"/>
                <a:cs typeface="+mn-lt"/>
              </a:rPr>
              <a:t>unsupervised clustering (K-Means). </a:t>
            </a:r>
            <a:r>
              <a:rPr lang="en-US">
                <a:ea typeface="+mn-lt"/>
                <a:cs typeface="+mn-lt"/>
              </a:rPr>
              <a:t>Both classifications were affected by </a:t>
            </a:r>
            <a:r>
              <a:rPr lang="en-US" noProof="0">
                <a:ea typeface="+mn-lt"/>
                <a:cs typeface="+mn-lt"/>
              </a:rPr>
              <a:t>the </a:t>
            </a:r>
            <a:r>
              <a:rPr lang="en-US">
                <a:ea typeface="+mn-lt"/>
                <a:cs typeface="+mn-lt"/>
              </a:rPr>
              <a:t>overlap between </a:t>
            </a:r>
            <a:r>
              <a:rPr lang="en-US" noProof="0">
                <a:ea typeface="+mn-lt"/>
                <a:cs typeface="+mn-lt"/>
              </a:rPr>
              <a:t>the clinical </a:t>
            </a:r>
            <a:r>
              <a:rPr lang="en-US">
                <a:ea typeface="+mn-lt"/>
                <a:cs typeface="+mn-lt"/>
              </a:rPr>
              <a:t>predictor </a:t>
            </a:r>
            <a:r>
              <a:rPr lang="en-US" noProof="0">
                <a:ea typeface="+mn-lt"/>
                <a:cs typeface="+mn-lt"/>
              </a:rPr>
              <a:t>variables which </a:t>
            </a:r>
            <a:r>
              <a:rPr lang="en-US">
                <a:ea typeface="+mn-lt"/>
                <a:cs typeface="+mn-lt"/>
              </a:rPr>
              <a:t>prevented </a:t>
            </a:r>
            <a:r>
              <a:rPr lang="en-US" noProof="0">
                <a:ea typeface="+mn-lt"/>
                <a:cs typeface="+mn-lt"/>
              </a:rPr>
              <a:t>the natural segmentation of patient profiles </a:t>
            </a:r>
            <a:r>
              <a:rPr lang="en-US">
                <a:ea typeface="+mn-lt"/>
                <a:cs typeface="+mn-lt"/>
              </a:rPr>
              <a:t>prior to applying</a:t>
            </a:r>
            <a:r>
              <a:rPr lang="en-US" noProof="0">
                <a:ea typeface="+mn-lt"/>
                <a:cs typeface="+mn-lt"/>
              </a:rPr>
              <a:t> target labels.</a:t>
            </a:r>
          </a:p>
          <a:p>
            <a:r>
              <a:rPr lang="en-US" dirty="0"/>
              <a:t>Although strong performance was achieved, model optimization should be pursued through rigorous hyperparameter tuning.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448744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F452202-F49D-7625-FD3D-4164C0B83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2630911"/>
            <a:ext cx="10364451" cy="1596177"/>
          </a:xfrm>
        </p:spPr>
        <p:txBody>
          <a:bodyPr>
            <a:normAutofit/>
          </a:bodyPr>
          <a:lstStyle/>
          <a:p>
            <a:r>
              <a:rPr lang="en-US" sz="4800" noProof="0" dirty="0"/>
              <a:t>Thank you for listening</a:t>
            </a:r>
          </a:p>
        </p:txBody>
      </p:sp>
    </p:spTree>
    <p:extLst>
      <p:ext uri="{BB962C8B-B14F-4D97-AF65-F5344CB8AC3E}">
        <p14:creationId xmlns:p14="http://schemas.microsoft.com/office/powerpoint/2010/main" val="2691089029"/>
      </p:ext>
    </p:extLst>
  </p:cSld>
  <p:clrMapOvr>
    <a:masterClrMapping/>
  </p:clrMapOvr>
</p:sld>
</file>

<file path=ppt/theme/theme1.xml><?xml version="1.0" encoding="utf-8"?>
<a:theme xmlns:a="http://schemas.openxmlformats.org/drawingml/2006/main" name="Damla">
  <a:themeElements>
    <a:clrScheme name="Damla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amla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la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Savon</Template>
  <TotalTime>66</TotalTime>
  <Words>1096</Words>
  <Application>Microsoft Macintosh PowerPoint</Application>
  <PresentationFormat>Geniş ekran</PresentationFormat>
  <Paragraphs>38</Paragraphs>
  <Slides>13</Slides>
  <Notes>2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13</vt:i4>
      </vt:variant>
    </vt:vector>
  </HeadingPairs>
  <TitlesOfParts>
    <vt:vector size="17" baseType="lpstr">
      <vt:lpstr>Aptos</vt:lpstr>
      <vt:lpstr>Arial</vt:lpstr>
      <vt:lpstr>Tw Cen MT</vt:lpstr>
      <vt:lpstr>Damla</vt:lpstr>
      <vt:lpstr>HEART DISEASE R Project Presentation</vt:lpstr>
      <vt:lpstr>Dataset Selection &amp; Objective</vt:lpstr>
      <vt:lpstr>DATA CLEANING &amp; Preprocessing</vt:lpstr>
      <vt:lpstr>Exploratory Data Analysis: Correlation Matrix</vt:lpstr>
      <vt:lpstr>Exploratory Data Analysis: Target Distribution</vt:lpstr>
      <vt:lpstr>Exploratory Data Analysis: Age Distribution by Target</vt:lpstr>
      <vt:lpstr>Exploratory Data Analysis: Age / Max Heart Rate</vt:lpstr>
      <vt:lpstr>Exploratory Data Analysis: GENDER / Target</vt:lpstr>
      <vt:lpstr>Exploratory Data Analysis: Chest Pain Type / Target</vt:lpstr>
      <vt:lpstr>K-means Clustering</vt:lpstr>
      <vt:lpstr>SVM Classification</vt:lpstr>
      <vt:lpstr>Conclusion &amp; Limitations</vt:lpstr>
      <vt:lpstr>Thank you for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BURAK DEMİRCİ</dc:creator>
  <cp:lastModifiedBy>BURAK DEMİRCİ</cp:lastModifiedBy>
  <cp:revision>35</cp:revision>
  <dcterms:created xsi:type="dcterms:W3CDTF">2026-05-30T12:28:13Z</dcterms:created>
  <dcterms:modified xsi:type="dcterms:W3CDTF">2026-06-03T06:07:25Z</dcterms:modified>
</cp:coreProperties>
</file>